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7CD14B4-E836-4ED5-9483-AA19205D927E}" v="1" dt="2026-08-23T10:25:15.30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77" d="100"/>
          <a:sy n="77" d="100"/>
        </p:scale>
        <p:origin x="62" y="11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18"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ohitmanikantarellu@gmail.com" userId="4b494ce48d7c931e" providerId="LiveId" clId="{B93CAFED-7FC8-44BA-8532-F6B841C0B94F}"/>
    <pc:docChg chg="undo custSel addSld delSld modSld">
      <pc:chgData name="rohitmanikantarellu@gmail.com" userId="4b494ce48d7c931e" providerId="LiveId" clId="{B93CAFED-7FC8-44BA-8532-F6B841C0B94F}" dt="2026-08-23T10:30:11.736" v="122" actId="1076"/>
      <pc:docMkLst>
        <pc:docMk/>
      </pc:docMkLst>
      <pc:sldChg chg="addSp modSp mod">
        <pc:chgData name="rohitmanikantarellu@gmail.com" userId="4b494ce48d7c931e" providerId="LiveId" clId="{B93CAFED-7FC8-44BA-8532-F6B841C0B94F}" dt="2026-08-23T10:30:11.736" v="122" actId="1076"/>
        <pc:sldMkLst>
          <pc:docMk/>
          <pc:sldMk cId="0" sldId="256"/>
        </pc:sldMkLst>
        <pc:spChg chg="add mod">
          <ac:chgData name="rohitmanikantarellu@gmail.com" userId="4b494ce48d7c931e" providerId="LiveId" clId="{B93CAFED-7FC8-44BA-8532-F6B841C0B94F}" dt="2026-08-23T10:27:38.773" v="120" actId="14100"/>
          <ac:spMkLst>
            <pc:docMk/>
            <pc:sldMk cId="0" sldId="256"/>
            <ac:spMk id="7" creationId="{0205383A-BD09-B240-41D2-347C8E92D992}"/>
          </ac:spMkLst>
        </pc:spChg>
        <pc:spChg chg="add mod">
          <ac:chgData name="rohitmanikantarellu@gmail.com" userId="4b494ce48d7c931e" providerId="LiveId" clId="{B93CAFED-7FC8-44BA-8532-F6B841C0B94F}" dt="2026-08-23T10:30:11.736" v="122" actId="1076"/>
          <ac:spMkLst>
            <pc:docMk/>
            <pc:sldMk cId="0" sldId="256"/>
            <ac:spMk id="9" creationId="{5AC74245-B118-B534-38BB-8CE1AB8A7774}"/>
          </ac:spMkLst>
        </pc:spChg>
      </pc:sldChg>
      <pc:sldChg chg="modSp mod">
        <pc:chgData name="rohitmanikantarellu@gmail.com" userId="4b494ce48d7c931e" providerId="LiveId" clId="{B93CAFED-7FC8-44BA-8532-F6B841C0B94F}" dt="2026-08-19T04:28:20.534" v="14" actId="207"/>
        <pc:sldMkLst>
          <pc:docMk/>
          <pc:sldMk cId="0" sldId="257"/>
        </pc:sldMkLst>
        <pc:spChg chg="mod">
          <ac:chgData name="rohitmanikantarellu@gmail.com" userId="4b494ce48d7c931e" providerId="LiveId" clId="{B93CAFED-7FC8-44BA-8532-F6B841C0B94F}" dt="2026-08-19T04:28:20.534" v="14" actId="207"/>
          <ac:spMkLst>
            <pc:docMk/>
            <pc:sldMk cId="0" sldId="257"/>
            <ac:spMk id="10" creationId="{00000000-0000-0000-0000-000000000000}"/>
          </ac:spMkLst>
        </pc:spChg>
      </pc:sldChg>
      <pc:sldChg chg="modSp mod">
        <pc:chgData name="rohitmanikantarellu@gmail.com" userId="4b494ce48d7c931e" providerId="LiveId" clId="{B93CAFED-7FC8-44BA-8532-F6B841C0B94F}" dt="2026-08-19T04:28:37.155" v="15" actId="207"/>
        <pc:sldMkLst>
          <pc:docMk/>
          <pc:sldMk cId="0" sldId="258"/>
        </pc:sldMkLst>
        <pc:spChg chg="mod">
          <ac:chgData name="rohitmanikantarellu@gmail.com" userId="4b494ce48d7c931e" providerId="LiveId" clId="{B93CAFED-7FC8-44BA-8532-F6B841C0B94F}" dt="2026-08-19T04:28:37.155" v="15" actId="207"/>
          <ac:spMkLst>
            <pc:docMk/>
            <pc:sldMk cId="0" sldId="258"/>
            <ac:spMk id="10" creationId="{00000000-0000-0000-0000-000000000000}"/>
          </ac:spMkLst>
        </pc:spChg>
      </pc:sldChg>
      <pc:sldChg chg="modSp mod">
        <pc:chgData name="rohitmanikantarellu@gmail.com" userId="4b494ce48d7c931e" providerId="LiveId" clId="{B93CAFED-7FC8-44BA-8532-F6B841C0B94F}" dt="2026-08-19T04:28:53.030" v="16" actId="207"/>
        <pc:sldMkLst>
          <pc:docMk/>
          <pc:sldMk cId="0" sldId="259"/>
        </pc:sldMkLst>
        <pc:spChg chg="mod">
          <ac:chgData name="rohitmanikantarellu@gmail.com" userId="4b494ce48d7c931e" providerId="LiveId" clId="{B93CAFED-7FC8-44BA-8532-F6B841C0B94F}" dt="2026-08-19T04:28:53.030" v="16" actId="207"/>
          <ac:spMkLst>
            <pc:docMk/>
            <pc:sldMk cId="0" sldId="259"/>
            <ac:spMk id="9" creationId="{00000000-0000-0000-0000-000000000000}"/>
          </ac:spMkLst>
        </pc:spChg>
      </pc:sldChg>
      <pc:sldChg chg="modSp mod">
        <pc:chgData name="rohitmanikantarellu@gmail.com" userId="4b494ce48d7c931e" providerId="LiveId" clId="{B93CAFED-7FC8-44BA-8532-F6B841C0B94F}" dt="2026-08-19T04:30:46.357" v="23" actId="207"/>
        <pc:sldMkLst>
          <pc:docMk/>
          <pc:sldMk cId="0" sldId="260"/>
        </pc:sldMkLst>
        <pc:spChg chg="mod">
          <ac:chgData name="rohitmanikantarellu@gmail.com" userId="4b494ce48d7c931e" providerId="LiveId" clId="{B93CAFED-7FC8-44BA-8532-F6B841C0B94F}" dt="2026-08-19T04:30:46.357" v="23" actId="207"/>
          <ac:spMkLst>
            <pc:docMk/>
            <pc:sldMk cId="0" sldId="260"/>
            <ac:spMk id="9" creationId="{00000000-0000-0000-0000-000000000000}"/>
          </ac:spMkLst>
        </pc:spChg>
      </pc:sldChg>
      <pc:sldChg chg="modSp mod">
        <pc:chgData name="rohitmanikantarellu@gmail.com" userId="4b494ce48d7c931e" providerId="LiveId" clId="{B93CAFED-7FC8-44BA-8532-F6B841C0B94F}" dt="2026-08-19T04:32:17.331" v="31" actId="207"/>
        <pc:sldMkLst>
          <pc:docMk/>
          <pc:sldMk cId="0" sldId="261"/>
        </pc:sldMkLst>
        <pc:spChg chg="mod">
          <ac:chgData name="rohitmanikantarellu@gmail.com" userId="4b494ce48d7c931e" providerId="LiveId" clId="{B93CAFED-7FC8-44BA-8532-F6B841C0B94F}" dt="2026-08-19T04:32:17.331" v="31" actId="207"/>
          <ac:spMkLst>
            <pc:docMk/>
            <pc:sldMk cId="0" sldId="261"/>
            <ac:spMk id="9" creationId="{00000000-0000-0000-0000-000000000000}"/>
          </ac:spMkLst>
        </pc:spChg>
        <pc:spChg chg="mod">
          <ac:chgData name="rohitmanikantarellu@gmail.com" userId="4b494ce48d7c931e" providerId="LiveId" clId="{B93CAFED-7FC8-44BA-8532-F6B841C0B94F}" dt="2026-08-19T04:32:07.403" v="29" actId="13926"/>
          <ac:spMkLst>
            <pc:docMk/>
            <pc:sldMk cId="0" sldId="261"/>
            <ac:spMk id="10" creationId="{00000000-0000-0000-0000-000000000000}"/>
          </ac:spMkLst>
        </pc:spChg>
      </pc:sldChg>
      <pc:sldChg chg="modSp mod">
        <pc:chgData name="rohitmanikantarellu@gmail.com" userId="4b494ce48d7c931e" providerId="LiveId" clId="{B93CAFED-7FC8-44BA-8532-F6B841C0B94F}" dt="2026-08-19T04:30:56.002" v="24" actId="207"/>
        <pc:sldMkLst>
          <pc:docMk/>
          <pc:sldMk cId="0" sldId="262"/>
        </pc:sldMkLst>
        <pc:spChg chg="mod">
          <ac:chgData name="rohitmanikantarellu@gmail.com" userId="4b494ce48d7c931e" providerId="LiveId" clId="{B93CAFED-7FC8-44BA-8532-F6B841C0B94F}" dt="2026-08-19T04:30:56.002" v="24" actId="207"/>
          <ac:spMkLst>
            <pc:docMk/>
            <pc:sldMk cId="0" sldId="262"/>
            <ac:spMk id="9" creationId="{00000000-0000-0000-0000-000000000000}"/>
          </ac:spMkLst>
        </pc:spChg>
      </pc:sldChg>
      <pc:sldChg chg="modSp mod">
        <pc:chgData name="rohitmanikantarellu@gmail.com" userId="4b494ce48d7c931e" providerId="LiveId" clId="{B93CAFED-7FC8-44BA-8532-F6B841C0B94F}" dt="2026-08-19T04:32:29.608" v="32" actId="207"/>
        <pc:sldMkLst>
          <pc:docMk/>
          <pc:sldMk cId="0" sldId="263"/>
        </pc:sldMkLst>
        <pc:spChg chg="mod">
          <ac:chgData name="rohitmanikantarellu@gmail.com" userId="4b494ce48d7c931e" providerId="LiveId" clId="{B93CAFED-7FC8-44BA-8532-F6B841C0B94F}" dt="2026-08-19T04:32:29.608" v="32" actId="207"/>
          <ac:spMkLst>
            <pc:docMk/>
            <pc:sldMk cId="0" sldId="263"/>
            <ac:spMk id="9" creationId="{00000000-0000-0000-0000-000000000000}"/>
          </ac:spMkLst>
        </pc:spChg>
      </pc:sldChg>
      <pc:sldChg chg="modSp mod">
        <pc:chgData name="rohitmanikantarellu@gmail.com" userId="4b494ce48d7c931e" providerId="LiveId" clId="{B93CAFED-7FC8-44BA-8532-F6B841C0B94F}" dt="2026-08-19T04:32:35.072" v="33" actId="207"/>
        <pc:sldMkLst>
          <pc:docMk/>
          <pc:sldMk cId="0" sldId="264"/>
        </pc:sldMkLst>
        <pc:spChg chg="mod">
          <ac:chgData name="rohitmanikantarellu@gmail.com" userId="4b494ce48d7c931e" providerId="LiveId" clId="{B93CAFED-7FC8-44BA-8532-F6B841C0B94F}" dt="2026-08-19T04:32:35.072" v="33" actId="207"/>
          <ac:spMkLst>
            <pc:docMk/>
            <pc:sldMk cId="0" sldId="264"/>
            <ac:spMk id="9" creationId="{00000000-0000-0000-0000-000000000000}"/>
          </ac:spMkLst>
        </pc:spChg>
      </pc:sldChg>
      <pc:sldChg chg="modSp mod">
        <pc:chgData name="rohitmanikantarellu@gmail.com" userId="4b494ce48d7c931e" providerId="LiveId" clId="{B93CAFED-7FC8-44BA-8532-F6B841C0B94F}" dt="2026-08-19T04:31:38.614" v="27" actId="207"/>
        <pc:sldMkLst>
          <pc:docMk/>
          <pc:sldMk cId="0" sldId="265"/>
        </pc:sldMkLst>
        <pc:spChg chg="mod">
          <ac:chgData name="rohitmanikantarellu@gmail.com" userId="4b494ce48d7c931e" providerId="LiveId" clId="{B93CAFED-7FC8-44BA-8532-F6B841C0B94F}" dt="2026-08-19T04:23:19.871" v="12" actId="13926"/>
          <ac:spMkLst>
            <pc:docMk/>
            <pc:sldMk cId="0" sldId="265"/>
            <ac:spMk id="9" creationId="{00000000-0000-0000-0000-000000000000}"/>
          </ac:spMkLst>
        </pc:spChg>
        <pc:spChg chg="mod">
          <ac:chgData name="rohitmanikantarellu@gmail.com" userId="4b494ce48d7c931e" providerId="LiveId" clId="{B93CAFED-7FC8-44BA-8532-F6B841C0B94F}" dt="2026-08-19T04:31:38.614" v="27" actId="207"/>
          <ac:spMkLst>
            <pc:docMk/>
            <pc:sldMk cId="0" sldId="265"/>
            <ac:spMk id="10" creationId="{00000000-0000-0000-0000-000000000000}"/>
          </ac:spMkLst>
        </pc:spChg>
        <pc:spChg chg="mod">
          <ac:chgData name="rohitmanikantarellu@gmail.com" userId="4b494ce48d7c931e" providerId="LiveId" clId="{B93CAFED-7FC8-44BA-8532-F6B841C0B94F}" dt="2026-08-19T04:31:34.879" v="26" actId="207"/>
          <ac:spMkLst>
            <pc:docMk/>
            <pc:sldMk cId="0" sldId="265"/>
            <ac:spMk id="12" creationId="{00000000-0000-0000-0000-000000000000}"/>
          </ac:spMkLst>
        </pc:spChg>
      </pc:sldChg>
      <pc:sldChg chg="modSp mod">
        <pc:chgData name="rohitmanikantarellu@gmail.com" userId="4b494ce48d7c931e" providerId="LiveId" clId="{B93CAFED-7FC8-44BA-8532-F6B841C0B94F}" dt="2026-08-19T04:31:53.644" v="28" actId="207"/>
        <pc:sldMkLst>
          <pc:docMk/>
          <pc:sldMk cId="0" sldId="266"/>
        </pc:sldMkLst>
        <pc:spChg chg="mod">
          <ac:chgData name="rohitmanikantarellu@gmail.com" userId="4b494ce48d7c931e" providerId="LiveId" clId="{B93CAFED-7FC8-44BA-8532-F6B841C0B94F}" dt="2026-08-19T04:31:53.644" v="28" actId="207"/>
          <ac:spMkLst>
            <pc:docMk/>
            <pc:sldMk cId="0" sldId="266"/>
            <ac:spMk id="9" creationId="{00000000-0000-0000-0000-000000000000}"/>
          </ac:spMkLst>
        </pc:spChg>
      </pc:sldChg>
      <pc:sldChg chg="new del">
        <pc:chgData name="rohitmanikantarellu@gmail.com" userId="4b494ce48d7c931e" providerId="LiveId" clId="{B93CAFED-7FC8-44BA-8532-F6B841C0B94F}" dt="2026-08-23T10:25:09.771" v="35" actId="680"/>
        <pc:sldMkLst>
          <pc:docMk/>
          <pc:sldMk cId="123130158" sldId="267"/>
        </pc:sldMkLst>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8/23/2026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8/23/2026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8/23/2026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8/23/2026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8/23/2026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8/23/2026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4223D"/>
        </a:solidFill>
        <a:effectLst/>
      </p:bgPr>
    </p:bg>
    <p:spTree>
      <p:nvGrpSpPr>
        <p:cNvPr id="1" name=""/>
        <p:cNvGrpSpPr/>
        <p:nvPr/>
      </p:nvGrpSpPr>
      <p:grpSpPr>
        <a:xfrm>
          <a:off x="0" y="0"/>
          <a:ext cx="0" cy="0"/>
          <a:chOff x="0" y="0"/>
          <a:chExt cx="0" cy="0"/>
        </a:xfrm>
      </p:grpSpPr>
      <p:sp>
        <p:nvSpPr>
          <p:cNvPr id="2" name="TextBox 1"/>
          <p:cNvSpPr txBox="1"/>
          <p:nvPr/>
        </p:nvSpPr>
        <p:spPr>
          <a:xfrm>
            <a:off x="731520" y="1051560"/>
            <a:ext cx="10698480" cy="457200"/>
          </a:xfrm>
          <a:prstGeom prst="rect">
            <a:avLst/>
          </a:prstGeom>
          <a:noFill/>
        </p:spPr>
        <p:txBody>
          <a:bodyPr wrap="square">
            <a:spAutoFit/>
          </a:bodyPr>
          <a:lstStyle/>
          <a:p>
            <a:pPr algn="l">
              <a:defRPr sz="2200" b="1">
                <a:solidFill>
                  <a:srgbClr val="BECDE1"/>
                </a:solidFill>
                <a:latin typeface="Aptos"/>
              </a:defRPr>
            </a:pPr>
            <a:r>
              <a:t>UNIT V</a:t>
            </a:r>
          </a:p>
        </p:txBody>
      </p:sp>
      <p:sp>
        <p:nvSpPr>
          <p:cNvPr id="3" name="TextBox 2"/>
          <p:cNvSpPr txBox="1"/>
          <p:nvPr/>
        </p:nvSpPr>
        <p:spPr>
          <a:xfrm>
            <a:off x="731520" y="1691640"/>
            <a:ext cx="10698480" cy="822960"/>
          </a:xfrm>
          <a:prstGeom prst="rect">
            <a:avLst/>
          </a:prstGeom>
          <a:noFill/>
        </p:spPr>
        <p:txBody>
          <a:bodyPr wrap="square">
            <a:spAutoFit/>
          </a:bodyPr>
          <a:lstStyle/>
          <a:p>
            <a:pPr algn="l">
              <a:defRPr sz="3200" b="1">
                <a:solidFill>
                  <a:srgbClr val="FFFFFF"/>
                </a:solidFill>
                <a:latin typeface="Aptos"/>
              </a:defRPr>
            </a:pPr>
            <a:r>
              <a:rPr dirty="0"/>
              <a:t>TOUGH MISSING-BLOCK MCQ QUIZ</a:t>
            </a:r>
          </a:p>
        </p:txBody>
      </p:sp>
      <p:sp>
        <p:nvSpPr>
          <p:cNvPr id="4" name="TextBox 3"/>
          <p:cNvSpPr txBox="1"/>
          <p:nvPr/>
        </p:nvSpPr>
        <p:spPr>
          <a:xfrm>
            <a:off x="749808" y="2697480"/>
            <a:ext cx="10332720" cy="914400"/>
          </a:xfrm>
          <a:prstGeom prst="rect">
            <a:avLst/>
          </a:prstGeom>
          <a:noFill/>
        </p:spPr>
        <p:txBody>
          <a:bodyPr wrap="square">
            <a:spAutoFit/>
          </a:bodyPr>
          <a:lstStyle/>
          <a:p>
            <a:pPr algn="l">
              <a:defRPr sz="2000" b="0">
                <a:solidFill>
                  <a:srgbClr val="DCE6F4"/>
                </a:solidFill>
                <a:latin typeface="Aptos"/>
              </a:defRPr>
            </a:pPr>
            <a:r>
              <a:t>Hierarchical RL • MAXQ • Meta-RL • MARL • POMDP • Ethics</a:t>
            </a:r>
          </a:p>
        </p:txBody>
      </p:sp>
      <p:sp>
        <p:nvSpPr>
          <p:cNvPr id="5" name="Rounded Rectangle 4"/>
          <p:cNvSpPr/>
          <p:nvPr/>
        </p:nvSpPr>
        <p:spPr>
          <a:xfrm>
            <a:off x="749808" y="3977639"/>
            <a:ext cx="3657600" cy="640080"/>
          </a:xfrm>
          <a:prstGeom prst="roundRect">
            <a:avLst/>
          </a:prstGeom>
          <a:solidFill>
            <a:srgbClr val="E0EEFB"/>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300" b="1">
                <a:solidFill>
                  <a:srgbClr val="14223D"/>
                </a:solidFill>
                <a:latin typeface="Aptos"/>
              </a:defRPr>
            </a:pPr>
            <a:r>
              <a:t>10 SCENARIO-BASED QUESTIONS</a:t>
            </a:r>
          </a:p>
        </p:txBody>
      </p:sp>
      <p:sp>
        <p:nvSpPr>
          <p:cNvPr id="6" name="TextBox 5"/>
          <p:cNvSpPr txBox="1"/>
          <p:nvPr/>
        </p:nvSpPr>
        <p:spPr>
          <a:xfrm>
            <a:off x="777240" y="4983480"/>
            <a:ext cx="9875520" cy="457200"/>
          </a:xfrm>
          <a:prstGeom prst="rect">
            <a:avLst/>
          </a:prstGeom>
          <a:noFill/>
        </p:spPr>
        <p:txBody>
          <a:bodyPr wrap="square">
            <a:spAutoFit/>
          </a:bodyPr>
          <a:lstStyle/>
          <a:p>
            <a:pPr algn="l">
              <a:defRPr sz="1500" b="0">
                <a:solidFill>
                  <a:srgbClr val="BECDE1"/>
                </a:solidFill>
                <a:latin typeface="Aptos"/>
              </a:defRPr>
            </a:pPr>
            <a:r>
              <a:t>Fill the missing concept by selecting the best option.</a:t>
            </a:r>
          </a:p>
        </p:txBody>
      </p:sp>
      <p:sp>
        <p:nvSpPr>
          <p:cNvPr id="7" name="TextBox 6">
            <a:extLst>
              <a:ext uri="{FF2B5EF4-FFF2-40B4-BE49-F238E27FC236}">
                <a16:creationId xmlns:a16="http://schemas.microsoft.com/office/drawing/2014/main" id="{0205383A-BD09-B240-41D2-347C8E92D992}"/>
              </a:ext>
            </a:extLst>
          </p:cNvPr>
          <p:cNvSpPr txBox="1"/>
          <p:nvPr/>
        </p:nvSpPr>
        <p:spPr>
          <a:xfrm>
            <a:off x="7695767" y="3836015"/>
            <a:ext cx="4295793" cy="646331"/>
          </a:xfrm>
          <a:prstGeom prst="rect">
            <a:avLst/>
          </a:prstGeom>
          <a:noFill/>
        </p:spPr>
        <p:txBody>
          <a:bodyPr wrap="square" rtlCol="0">
            <a:spAutoFit/>
          </a:bodyPr>
          <a:lstStyle/>
          <a:p>
            <a:r>
              <a:rPr lang="en-US" b="1" dirty="0" err="1">
                <a:solidFill>
                  <a:schemeClr val="bg1"/>
                </a:solidFill>
                <a:latin typeface="Aptos" panose="020B0004020202020204" pitchFamily="34" charset="0"/>
              </a:rPr>
              <a:t>Nmae</a:t>
            </a:r>
            <a:r>
              <a:rPr lang="en-US" b="1" dirty="0">
                <a:solidFill>
                  <a:schemeClr val="bg1"/>
                </a:solidFill>
                <a:latin typeface="Aptos" panose="020B0004020202020204" pitchFamily="34" charset="0"/>
              </a:rPr>
              <a:t>: Rohith Manikanta </a:t>
            </a:r>
            <a:r>
              <a:rPr lang="en-US" b="1" dirty="0" err="1">
                <a:solidFill>
                  <a:schemeClr val="bg1"/>
                </a:solidFill>
                <a:latin typeface="Aptos" panose="020B0004020202020204" pitchFamily="34" charset="0"/>
              </a:rPr>
              <a:t>Rellu</a:t>
            </a:r>
            <a:endParaRPr lang="en-US" b="1" dirty="0">
              <a:solidFill>
                <a:schemeClr val="bg1"/>
              </a:solidFill>
              <a:latin typeface="Aptos" panose="020B0004020202020204" pitchFamily="34" charset="0"/>
            </a:endParaRPr>
          </a:p>
          <a:p>
            <a:r>
              <a:rPr lang="en-US" b="1" dirty="0">
                <a:solidFill>
                  <a:schemeClr val="bg1"/>
                </a:solidFill>
                <a:latin typeface="Aptos" panose="020B0004020202020204" pitchFamily="34" charset="0"/>
              </a:rPr>
              <a:t>RegNo:192425326</a:t>
            </a:r>
            <a:endParaRPr lang="en-IN" b="1" dirty="0">
              <a:solidFill>
                <a:schemeClr val="bg1"/>
              </a:solidFill>
              <a:latin typeface="Aptos" panose="020B0004020202020204" pitchFamily="34" charset="0"/>
            </a:endParaRPr>
          </a:p>
        </p:txBody>
      </p:sp>
      <p:sp>
        <p:nvSpPr>
          <p:cNvPr id="9" name="TextBox 8">
            <a:extLst>
              <a:ext uri="{FF2B5EF4-FFF2-40B4-BE49-F238E27FC236}">
                <a16:creationId xmlns:a16="http://schemas.microsoft.com/office/drawing/2014/main" id="{5AC74245-B118-B534-38BB-8CE1AB8A7774}"/>
              </a:ext>
            </a:extLst>
          </p:cNvPr>
          <p:cNvSpPr txBox="1"/>
          <p:nvPr/>
        </p:nvSpPr>
        <p:spPr>
          <a:xfrm>
            <a:off x="4407408" y="397348"/>
            <a:ext cx="3263781" cy="707886"/>
          </a:xfrm>
          <a:prstGeom prst="rect">
            <a:avLst/>
          </a:prstGeom>
          <a:noFill/>
        </p:spPr>
        <p:txBody>
          <a:bodyPr wrap="square" rtlCol="0">
            <a:spAutoFit/>
          </a:bodyPr>
          <a:lstStyle/>
          <a:p>
            <a:r>
              <a:rPr lang="en-US" sz="4000" b="1" dirty="0">
                <a:solidFill>
                  <a:schemeClr val="bg1"/>
                </a:solidFill>
                <a:latin typeface="Aptos" panose="020B0004020202020204" pitchFamily="34" charset="0"/>
              </a:rPr>
              <a:t>CO-5   AT-1</a:t>
            </a:r>
            <a:endParaRPr lang="en-IN" sz="4000" b="1" dirty="0">
              <a:solidFill>
                <a:schemeClr val="bg1"/>
              </a:solidFill>
              <a:latin typeface="Aptos" panose="020B0004020202020204"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40080"/>
          </a:xfrm>
          <a:prstGeom prst="rect">
            <a:avLst/>
          </a:prstGeom>
          <a:solidFill>
            <a:srgbClr val="1422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109728"/>
            <a:ext cx="9784080" cy="365760"/>
          </a:xfrm>
          <a:prstGeom prst="rect">
            <a:avLst/>
          </a:prstGeom>
          <a:noFill/>
        </p:spPr>
        <p:txBody>
          <a:bodyPr wrap="square">
            <a:spAutoFit/>
          </a:bodyPr>
          <a:lstStyle/>
          <a:p>
            <a:pPr algn="l">
              <a:defRPr sz="2300" b="1">
                <a:solidFill>
                  <a:srgbClr val="FFFFFF"/>
                </a:solidFill>
                <a:latin typeface="Aptos"/>
              </a:defRPr>
            </a:pPr>
            <a:r>
              <a:t>Q1 • HRL — Temporal Abstraction</a:t>
            </a:r>
          </a:p>
        </p:txBody>
      </p:sp>
      <p:sp>
        <p:nvSpPr>
          <p:cNvPr id="4" name="TextBox 3"/>
          <p:cNvSpPr txBox="1"/>
          <p:nvPr/>
        </p:nvSpPr>
        <p:spPr>
          <a:xfrm>
            <a:off x="10332720" y="146304"/>
            <a:ext cx="1097280" cy="228600"/>
          </a:xfrm>
          <a:prstGeom prst="rect">
            <a:avLst/>
          </a:prstGeom>
          <a:noFill/>
        </p:spPr>
        <p:txBody>
          <a:bodyPr wrap="square">
            <a:spAutoFit/>
          </a:bodyPr>
          <a:lstStyle/>
          <a:p>
            <a:pPr algn="r">
              <a:defRPr sz="1000" b="1">
                <a:solidFill>
                  <a:srgbClr val="BECDE1"/>
                </a:solidFill>
                <a:latin typeface="Aptos"/>
              </a:defRPr>
            </a:pPr>
            <a:r>
              <a:t>02</a:t>
            </a:r>
          </a:p>
        </p:txBody>
      </p:sp>
      <p:sp>
        <p:nvSpPr>
          <p:cNvPr id="5" name="Rounded Rectangle 4"/>
          <p:cNvSpPr/>
          <p:nvPr/>
        </p:nvSpPr>
        <p:spPr>
          <a:xfrm>
            <a:off x="502920" y="914400"/>
            <a:ext cx="11155680" cy="1828800"/>
          </a:xfrm>
          <a:prstGeom prst="roundRect">
            <a:avLst/>
          </a:prstGeom>
          <a:solidFill>
            <a:srgbClr val="FFFFFF"/>
          </a:solidFill>
          <a:ln w="17780">
            <a:solidFill>
              <a:srgbClr val="2672BE"/>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600" b="0">
                <a:solidFill>
                  <a:srgbClr val="232A34"/>
                </a:solidFill>
                <a:latin typeface="Aptos"/>
              </a:defRPr>
            </a:pPr>
            <a:endParaRPr/>
          </a:p>
        </p:txBody>
      </p:sp>
      <p:sp>
        <p:nvSpPr>
          <p:cNvPr id="6" name="TextBox 5"/>
          <p:cNvSpPr txBox="1"/>
          <p:nvPr/>
        </p:nvSpPr>
        <p:spPr>
          <a:xfrm>
            <a:off x="777240" y="1143000"/>
            <a:ext cx="10607040" cy="1325880"/>
          </a:xfrm>
          <a:prstGeom prst="rect">
            <a:avLst/>
          </a:prstGeom>
          <a:noFill/>
        </p:spPr>
        <p:txBody>
          <a:bodyPr wrap="square">
            <a:spAutoFit/>
          </a:bodyPr>
          <a:lstStyle/>
          <a:p>
            <a:pPr algn="ctr">
              <a:defRPr sz="1800" b="1">
                <a:solidFill>
                  <a:srgbClr val="14223D"/>
                </a:solidFill>
                <a:latin typeface="Aptos"/>
              </a:defRPr>
            </a:pPr>
            <a:r>
              <a:rPr dirty="0"/>
              <a:t>A robot must deliver an item through several rooms. A high-level policy selects the current room as a sub-goal, while a lower-level policy performs navigation actions repeatedly until that sub-goal is completed. This design primarily demonstrates □□□□.</a:t>
            </a:r>
          </a:p>
        </p:txBody>
      </p:sp>
      <p:sp>
        <p:nvSpPr>
          <p:cNvPr id="7" name="Rounded Rectangle 6"/>
          <p:cNvSpPr/>
          <p:nvPr/>
        </p:nvSpPr>
        <p:spPr>
          <a:xfrm>
            <a:off x="3886200" y="2907792"/>
            <a:ext cx="4389120" cy="658368"/>
          </a:xfrm>
          <a:prstGeom prst="roundRect">
            <a:avLst/>
          </a:prstGeom>
          <a:solidFill>
            <a:srgbClr val="F5F7FA"/>
          </a:solidFill>
          <a:ln w="17780">
            <a:solidFill>
              <a:srgbClr val="2672BE"/>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2400" b="1">
                <a:solidFill>
                  <a:srgbClr val="14223D"/>
                </a:solidFill>
                <a:latin typeface="Aptos"/>
              </a:defRPr>
            </a:pPr>
            <a:r>
              <a:t>□□□□</a:t>
            </a:r>
          </a:p>
        </p:txBody>
      </p:sp>
      <p:sp>
        <p:nvSpPr>
          <p:cNvPr id="8" name="TextBox 7"/>
          <p:cNvSpPr txBox="1"/>
          <p:nvPr/>
        </p:nvSpPr>
        <p:spPr>
          <a:xfrm>
            <a:off x="731520" y="3794760"/>
            <a:ext cx="10698480" cy="274320"/>
          </a:xfrm>
          <a:prstGeom prst="rect">
            <a:avLst/>
          </a:prstGeom>
          <a:noFill/>
        </p:spPr>
        <p:txBody>
          <a:bodyPr wrap="square">
            <a:spAutoFit/>
          </a:bodyPr>
          <a:lstStyle/>
          <a:p>
            <a:pPr algn="ctr">
              <a:defRPr sz="1200" b="0">
                <a:solidFill>
                  <a:srgbClr val="5C6878"/>
                </a:solidFill>
                <a:latin typeface="Aptos"/>
              </a:defRPr>
            </a:pPr>
            <a:r>
              <a:t>Select the option that correctly fills the missing concept.</a:t>
            </a:r>
          </a:p>
        </p:txBody>
      </p:sp>
      <p:sp>
        <p:nvSpPr>
          <p:cNvPr id="9" name="Rounded Rectangle 8"/>
          <p:cNvSpPr/>
          <p:nvPr/>
        </p:nvSpPr>
        <p:spPr>
          <a:xfrm>
            <a:off x="685800" y="4297680"/>
            <a:ext cx="5257800" cy="749808"/>
          </a:xfrm>
          <a:prstGeom prst="roundRect">
            <a:avLst/>
          </a:prstGeom>
          <a:solidFill>
            <a:srgbClr val="E0EEFB"/>
          </a:solidFill>
          <a:ln w="17780">
            <a:solidFill>
              <a:srgbClr val="2672BE"/>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l">
              <a:defRPr sz="1350" b="1">
                <a:solidFill>
                  <a:srgbClr val="232A34"/>
                </a:solidFill>
                <a:latin typeface="Aptos"/>
              </a:defRPr>
            </a:pPr>
            <a:r>
              <a:t>A.  reward shaping</a:t>
            </a:r>
          </a:p>
        </p:txBody>
      </p:sp>
      <p:sp>
        <p:nvSpPr>
          <p:cNvPr id="10" name="Rounded Rectangle 9"/>
          <p:cNvSpPr/>
          <p:nvPr/>
        </p:nvSpPr>
        <p:spPr>
          <a:xfrm>
            <a:off x="6263640" y="4297680"/>
            <a:ext cx="5257800" cy="749808"/>
          </a:xfrm>
          <a:prstGeom prst="roundRect">
            <a:avLst/>
          </a:prstGeom>
          <a:solidFill>
            <a:srgbClr val="00B050"/>
          </a:solidFill>
          <a:ln w="17780">
            <a:solidFill>
              <a:srgbClr val="37A069"/>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l">
              <a:defRPr sz="1350" b="1">
                <a:solidFill>
                  <a:srgbClr val="232A34"/>
                </a:solidFill>
                <a:latin typeface="Aptos"/>
              </a:defRPr>
            </a:pPr>
            <a:r>
              <a:rPr dirty="0">
                <a:highlight>
                  <a:srgbClr val="00FF00"/>
                </a:highlight>
              </a:rPr>
              <a:t>B.  temporal abstraction</a:t>
            </a:r>
          </a:p>
        </p:txBody>
      </p:sp>
      <p:sp>
        <p:nvSpPr>
          <p:cNvPr id="11" name="Rounded Rectangle 10"/>
          <p:cNvSpPr/>
          <p:nvPr/>
        </p:nvSpPr>
        <p:spPr>
          <a:xfrm>
            <a:off x="685800" y="5349240"/>
            <a:ext cx="5257800" cy="749808"/>
          </a:xfrm>
          <a:prstGeom prst="roundRect">
            <a:avLst/>
          </a:prstGeom>
          <a:solidFill>
            <a:srgbClr val="FFF6D3"/>
          </a:solidFill>
          <a:ln w="17780">
            <a:solidFill>
              <a:srgbClr val="F2BE36"/>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l">
              <a:defRPr sz="1350" b="1">
                <a:solidFill>
                  <a:srgbClr val="232A34"/>
                </a:solidFill>
                <a:latin typeface="Aptos"/>
              </a:defRPr>
            </a:pPr>
            <a:r>
              <a:t>C.  experience replay</a:t>
            </a:r>
          </a:p>
        </p:txBody>
      </p:sp>
      <p:sp>
        <p:nvSpPr>
          <p:cNvPr id="12" name="Rounded Rectangle 11"/>
          <p:cNvSpPr/>
          <p:nvPr/>
        </p:nvSpPr>
        <p:spPr>
          <a:xfrm>
            <a:off x="6263640" y="5349240"/>
            <a:ext cx="5257800" cy="749808"/>
          </a:xfrm>
          <a:prstGeom prst="roundRect">
            <a:avLst/>
          </a:prstGeom>
          <a:solidFill>
            <a:srgbClr val="EDE6F9"/>
          </a:solidFill>
          <a:ln w="17780">
            <a:solidFill>
              <a:srgbClr val="7857B2"/>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l">
              <a:defRPr sz="1350" b="1">
                <a:solidFill>
                  <a:srgbClr val="232A34"/>
                </a:solidFill>
                <a:latin typeface="Aptos"/>
              </a:defRPr>
            </a:pPr>
            <a:r>
              <a:t>D.  policy distillation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40080"/>
          </a:xfrm>
          <a:prstGeom prst="rect">
            <a:avLst/>
          </a:prstGeom>
          <a:solidFill>
            <a:srgbClr val="1422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109728"/>
            <a:ext cx="9784080" cy="365760"/>
          </a:xfrm>
          <a:prstGeom prst="rect">
            <a:avLst/>
          </a:prstGeom>
          <a:noFill/>
        </p:spPr>
        <p:txBody>
          <a:bodyPr wrap="square">
            <a:spAutoFit/>
          </a:bodyPr>
          <a:lstStyle/>
          <a:p>
            <a:pPr algn="l">
              <a:defRPr sz="2300" b="1">
                <a:solidFill>
                  <a:srgbClr val="FFFFFF"/>
                </a:solidFill>
                <a:latin typeface="Aptos"/>
              </a:defRPr>
            </a:pPr>
            <a:r>
              <a:t>Q2 • HRL — Hierarchy Design</a:t>
            </a:r>
          </a:p>
        </p:txBody>
      </p:sp>
      <p:sp>
        <p:nvSpPr>
          <p:cNvPr id="4" name="TextBox 3"/>
          <p:cNvSpPr txBox="1"/>
          <p:nvPr/>
        </p:nvSpPr>
        <p:spPr>
          <a:xfrm>
            <a:off x="10332720" y="146304"/>
            <a:ext cx="1097280" cy="228600"/>
          </a:xfrm>
          <a:prstGeom prst="rect">
            <a:avLst/>
          </a:prstGeom>
          <a:noFill/>
        </p:spPr>
        <p:txBody>
          <a:bodyPr wrap="square">
            <a:spAutoFit/>
          </a:bodyPr>
          <a:lstStyle/>
          <a:p>
            <a:pPr algn="r">
              <a:defRPr sz="1000" b="1">
                <a:solidFill>
                  <a:srgbClr val="BECDE1"/>
                </a:solidFill>
                <a:latin typeface="Aptos"/>
              </a:defRPr>
            </a:pPr>
            <a:r>
              <a:t>03</a:t>
            </a:r>
          </a:p>
        </p:txBody>
      </p:sp>
      <p:sp>
        <p:nvSpPr>
          <p:cNvPr id="5" name="Rounded Rectangle 4"/>
          <p:cNvSpPr/>
          <p:nvPr/>
        </p:nvSpPr>
        <p:spPr>
          <a:xfrm>
            <a:off x="502920" y="914400"/>
            <a:ext cx="11155680" cy="1828800"/>
          </a:xfrm>
          <a:prstGeom prst="roundRect">
            <a:avLst/>
          </a:prstGeom>
          <a:solidFill>
            <a:srgbClr val="FFFFFF"/>
          </a:solidFill>
          <a:ln w="17780">
            <a:solidFill>
              <a:srgbClr val="22918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600" b="0">
                <a:solidFill>
                  <a:srgbClr val="232A34"/>
                </a:solidFill>
                <a:latin typeface="Aptos"/>
              </a:defRPr>
            </a:pPr>
            <a:endParaRPr/>
          </a:p>
        </p:txBody>
      </p:sp>
      <p:sp>
        <p:nvSpPr>
          <p:cNvPr id="6" name="TextBox 5"/>
          <p:cNvSpPr txBox="1"/>
          <p:nvPr/>
        </p:nvSpPr>
        <p:spPr>
          <a:xfrm>
            <a:off x="777240" y="1143000"/>
            <a:ext cx="10607040" cy="1325880"/>
          </a:xfrm>
          <a:prstGeom prst="rect">
            <a:avLst/>
          </a:prstGeom>
          <a:noFill/>
        </p:spPr>
        <p:txBody>
          <a:bodyPr wrap="square">
            <a:spAutoFit/>
          </a:bodyPr>
          <a:lstStyle/>
          <a:p>
            <a:pPr algn="ctr">
              <a:defRPr sz="1800" b="1">
                <a:solidFill>
                  <a:srgbClr val="14223D"/>
                </a:solidFill>
                <a:latin typeface="Aptos"/>
              </a:defRPr>
            </a:pPr>
            <a:r>
              <a:t>An RL system has a mission policy that changes only when a major objective is completed, while a skill policy changes actions at every time step. The key advantage is that the upper policy operates at a □□□□ time scale than the lower policy.</a:t>
            </a:r>
          </a:p>
        </p:txBody>
      </p:sp>
      <p:sp>
        <p:nvSpPr>
          <p:cNvPr id="7" name="Rounded Rectangle 6"/>
          <p:cNvSpPr/>
          <p:nvPr/>
        </p:nvSpPr>
        <p:spPr>
          <a:xfrm>
            <a:off x="3886200" y="2907792"/>
            <a:ext cx="4389120" cy="658368"/>
          </a:xfrm>
          <a:prstGeom prst="roundRect">
            <a:avLst/>
          </a:prstGeom>
          <a:solidFill>
            <a:srgbClr val="F5F7FA"/>
          </a:solidFill>
          <a:ln w="17780">
            <a:solidFill>
              <a:srgbClr val="22918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2400" b="1">
                <a:solidFill>
                  <a:srgbClr val="14223D"/>
                </a:solidFill>
                <a:latin typeface="Aptos"/>
              </a:defRPr>
            </a:pPr>
            <a:r>
              <a:t>□□□□</a:t>
            </a:r>
          </a:p>
        </p:txBody>
      </p:sp>
      <p:sp>
        <p:nvSpPr>
          <p:cNvPr id="8" name="TextBox 7"/>
          <p:cNvSpPr txBox="1"/>
          <p:nvPr/>
        </p:nvSpPr>
        <p:spPr>
          <a:xfrm>
            <a:off x="731520" y="3794760"/>
            <a:ext cx="10698480" cy="274320"/>
          </a:xfrm>
          <a:prstGeom prst="rect">
            <a:avLst/>
          </a:prstGeom>
          <a:noFill/>
        </p:spPr>
        <p:txBody>
          <a:bodyPr wrap="square">
            <a:spAutoFit/>
          </a:bodyPr>
          <a:lstStyle/>
          <a:p>
            <a:pPr algn="ctr">
              <a:defRPr sz="1200" b="0">
                <a:solidFill>
                  <a:srgbClr val="5C6878"/>
                </a:solidFill>
                <a:latin typeface="Aptos"/>
              </a:defRPr>
            </a:pPr>
            <a:r>
              <a:t>Select the option that correctly fills the missing concept.</a:t>
            </a:r>
          </a:p>
        </p:txBody>
      </p:sp>
      <p:sp>
        <p:nvSpPr>
          <p:cNvPr id="9" name="Rounded Rectangle 8"/>
          <p:cNvSpPr/>
          <p:nvPr/>
        </p:nvSpPr>
        <p:spPr>
          <a:xfrm>
            <a:off x="685800" y="4297680"/>
            <a:ext cx="5257800" cy="749808"/>
          </a:xfrm>
          <a:prstGeom prst="roundRect">
            <a:avLst/>
          </a:prstGeom>
          <a:solidFill>
            <a:srgbClr val="E0EEFB"/>
          </a:solidFill>
          <a:ln w="17780">
            <a:solidFill>
              <a:srgbClr val="2672BE"/>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l">
              <a:defRPr sz="1350" b="1">
                <a:solidFill>
                  <a:srgbClr val="232A34"/>
                </a:solidFill>
                <a:latin typeface="Aptos"/>
              </a:defRPr>
            </a:pPr>
            <a:r>
              <a:t>A.  faster</a:t>
            </a:r>
          </a:p>
        </p:txBody>
      </p:sp>
      <p:sp>
        <p:nvSpPr>
          <p:cNvPr id="10" name="Rounded Rectangle 9"/>
          <p:cNvSpPr/>
          <p:nvPr/>
        </p:nvSpPr>
        <p:spPr>
          <a:xfrm>
            <a:off x="6263640" y="4297680"/>
            <a:ext cx="5257800" cy="749808"/>
          </a:xfrm>
          <a:prstGeom prst="roundRect">
            <a:avLst/>
          </a:prstGeom>
          <a:solidFill>
            <a:srgbClr val="00B050"/>
          </a:solidFill>
          <a:ln w="17780">
            <a:solidFill>
              <a:srgbClr val="37A069"/>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l">
              <a:defRPr sz="1350" b="1">
                <a:solidFill>
                  <a:srgbClr val="232A34"/>
                </a:solidFill>
                <a:latin typeface="Aptos"/>
              </a:defRPr>
            </a:pPr>
            <a:r>
              <a:rPr>
                <a:highlight>
                  <a:srgbClr val="00FF00"/>
                </a:highlight>
              </a:rPr>
              <a:t>B.  slower</a:t>
            </a:r>
          </a:p>
        </p:txBody>
      </p:sp>
      <p:sp>
        <p:nvSpPr>
          <p:cNvPr id="11" name="Rounded Rectangle 10"/>
          <p:cNvSpPr/>
          <p:nvPr/>
        </p:nvSpPr>
        <p:spPr>
          <a:xfrm>
            <a:off x="685800" y="5349240"/>
            <a:ext cx="5257800" cy="749808"/>
          </a:xfrm>
          <a:prstGeom prst="roundRect">
            <a:avLst/>
          </a:prstGeom>
          <a:solidFill>
            <a:srgbClr val="FFF6D3"/>
          </a:solidFill>
          <a:ln w="17780">
            <a:solidFill>
              <a:srgbClr val="F2BE36"/>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l">
              <a:defRPr sz="1350" b="1">
                <a:solidFill>
                  <a:srgbClr val="232A34"/>
                </a:solidFill>
                <a:latin typeface="Aptos"/>
              </a:defRPr>
            </a:pPr>
            <a:r>
              <a:t>C.  randomized</a:t>
            </a:r>
          </a:p>
        </p:txBody>
      </p:sp>
      <p:sp>
        <p:nvSpPr>
          <p:cNvPr id="12" name="Rounded Rectangle 11"/>
          <p:cNvSpPr/>
          <p:nvPr/>
        </p:nvSpPr>
        <p:spPr>
          <a:xfrm>
            <a:off x="6263640" y="5349240"/>
            <a:ext cx="5257800" cy="749808"/>
          </a:xfrm>
          <a:prstGeom prst="roundRect">
            <a:avLst/>
          </a:prstGeom>
          <a:solidFill>
            <a:srgbClr val="EDE6F9"/>
          </a:solidFill>
          <a:ln w="17780">
            <a:solidFill>
              <a:srgbClr val="7857B2"/>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l">
              <a:defRPr sz="1350" b="1">
                <a:solidFill>
                  <a:srgbClr val="232A34"/>
                </a:solidFill>
                <a:latin typeface="Aptos"/>
              </a:defRPr>
            </a:pPr>
            <a:r>
              <a:t>D.  continuous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40080"/>
          </a:xfrm>
          <a:prstGeom prst="rect">
            <a:avLst/>
          </a:prstGeom>
          <a:solidFill>
            <a:srgbClr val="1422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109728"/>
            <a:ext cx="9784080" cy="365760"/>
          </a:xfrm>
          <a:prstGeom prst="rect">
            <a:avLst/>
          </a:prstGeom>
          <a:noFill/>
        </p:spPr>
        <p:txBody>
          <a:bodyPr wrap="square">
            <a:spAutoFit/>
          </a:bodyPr>
          <a:lstStyle/>
          <a:p>
            <a:pPr algn="l">
              <a:defRPr sz="2300" b="1">
                <a:solidFill>
                  <a:srgbClr val="FFFFFF"/>
                </a:solidFill>
                <a:latin typeface="Aptos"/>
              </a:defRPr>
            </a:pPr>
            <a:r>
              <a:t>Q3 • HAM — Structured Exploration</a:t>
            </a:r>
          </a:p>
        </p:txBody>
      </p:sp>
      <p:sp>
        <p:nvSpPr>
          <p:cNvPr id="4" name="TextBox 3"/>
          <p:cNvSpPr txBox="1"/>
          <p:nvPr/>
        </p:nvSpPr>
        <p:spPr>
          <a:xfrm>
            <a:off x="10332720" y="146304"/>
            <a:ext cx="1097280" cy="228600"/>
          </a:xfrm>
          <a:prstGeom prst="rect">
            <a:avLst/>
          </a:prstGeom>
          <a:noFill/>
        </p:spPr>
        <p:txBody>
          <a:bodyPr wrap="square">
            <a:spAutoFit/>
          </a:bodyPr>
          <a:lstStyle/>
          <a:p>
            <a:pPr algn="r">
              <a:defRPr sz="1000" b="1">
                <a:solidFill>
                  <a:srgbClr val="BECDE1"/>
                </a:solidFill>
                <a:latin typeface="Aptos"/>
              </a:defRPr>
            </a:pPr>
            <a:r>
              <a:t>04</a:t>
            </a:r>
          </a:p>
        </p:txBody>
      </p:sp>
      <p:sp>
        <p:nvSpPr>
          <p:cNvPr id="5" name="Rounded Rectangle 4"/>
          <p:cNvSpPr/>
          <p:nvPr/>
        </p:nvSpPr>
        <p:spPr>
          <a:xfrm>
            <a:off x="502920" y="914400"/>
            <a:ext cx="11155680" cy="1828800"/>
          </a:xfrm>
          <a:prstGeom prst="roundRect">
            <a:avLst/>
          </a:prstGeom>
          <a:solidFill>
            <a:srgbClr val="FFFFFF"/>
          </a:solidFill>
          <a:ln w="17780">
            <a:solidFill>
              <a:srgbClr val="7857B2"/>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600" b="0">
                <a:solidFill>
                  <a:srgbClr val="232A34"/>
                </a:solidFill>
                <a:latin typeface="Aptos"/>
              </a:defRPr>
            </a:pPr>
            <a:endParaRPr/>
          </a:p>
        </p:txBody>
      </p:sp>
      <p:sp>
        <p:nvSpPr>
          <p:cNvPr id="6" name="TextBox 5"/>
          <p:cNvSpPr txBox="1"/>
          <p:nvPr/>
        </p:nvSpPr>
        <p:spPr>
          <a:xfrm>
            <a:off x="777240" y="1143000"/>
            <a:ext cx="10607040" cy="1325880"/>
          </a:xfrm>
          <a:prstGeom prst="rect">
            <a:avLst/>
          </a:prstGeom>
          <a:noFill/>
        </p:spPr>
        <p:txBody>
          <a:bodyPr wrap="square">
            <a:spAutoFit/>
          </a:bodyPr>
          <a:lstStyle/>
          <a:p>
            <a:pPr algn="ctr">
              <a:defRPr sz="1800" b="1">
                <a:solidFill>
                  <a:srgbClr val="14223D"/>
                </a:solidFill>
                <a:latin typeface="Aptos"/>
              </a:defRPr>
            </a:pPr>
            <a:r>
              <a:t>In a warehouse task, the designer knows that an agent must first locate an item, then pick it up, and finally deliver it. The task structure is encoded before learning, while some choices inside the structure are learned. This most directly describes a □□□□.</a:t>
            </a:r>
          </a:p>
        </p:txBody>
      </p:sp>
      <p:sp>
        <p:nvSpPr>
          <p:cNvPr id="7" name="Rounded Rectangle 6"/>
          <p:cNvSpPr/>
          <p:nvPr/>
        </p:nvSpPr>
        <p:spPr>
          <a:xfrm>
            <a:off x="3886200" y="2907792"/>
            <a:ext cx="4389120" cy="658368"/>
          </a:xfrm>
          <a:prstGeom prst="roundRect">
            <a:avLst/>
          </a:prstGeom>
          <a:solidFill>
            <a:srgbClr val="F5F7FA"/>
          </a:solidFill>
          <a:ln w="17780">
            <a:solidFill>
              <a:srgbClr val="7857B2"/>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2400" b="1">
                <a:solidFill>
                  <a:srgbClr val="14223D"/>
                </a:solidFill>
                <a:latin typeface="Aptos"/>
              </a:defRPr>
            </a:pPr>
            <a:r>
              <a:t>□□□□</a:t>
            </a:r>
          </a:p>
        </p:txBody>
      </p:sp>
      <p:sp>
        <p:nvSpPr>
          <p:cNvPr id="8" name="TextBox 7"/>
          <p:cNvSpPr txBox="1"/>
          <p:nvPr/>
        </p:nvSpPr>
        <p:spPr>
          <a:xfrm>
            <a:off x="731520" y="3794760"/>
            <a:ext cx="10698480" cy="274320"/>
          </a:xfrm>
          <a:prstGeom prst="rect">
            <a:avLst/>
          </a:prstGeom>
          <a:noFill/>
        </p:spPr>
        <p:txBody>
          <a:bodyPr wrap="square">
            <a:spAutoFit/>
          </a:bodyPr>
          <a:lstStyle/>
          <a:p>
            <a:pPr algn="ctr">
              <a:defRPr sz="1200" b="0">
                <a:solidFill>
                  <a:srgbClr val="5C6878"/>
                </a:solidFill>
                <a:latin typeface="Aptos"/>
              </a:defRPr>
            </a:pPr>
            <a:r>
              <a:t>Select the option that correctly fills the missing concept.</a:t>
            </a:r>
          </a:p>
        </p:txBody>
      </p:sp>
      <p:sp>
        <p:nvSpPr>
          <p:cNvPr id="9" name="Rounded Rectangle 8"/>
          <p:cNvSpPr/>
          <p:nvPr/>
        </p:nvSpPr>
        <p:spPr>
          <a:xfrm>
            <a:off x="685800" y="4297680"/>
            <a:ext cx="5257800" cy="749808"/>
          </a:xfrm>
          <a:prstGeom prst="roundRect">
            <a:avLst/>
          </a:prstGeom>
          <a:solidFill>
            <a:srgbClr val="00B050"/>
          </a:solidFill>
          <a:ln w="17780">
            <a:solidFill>
              <a:srgbClr val="2672BE"/>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l">
              <a:defRPr sz="1350" b="1">
                <a:solidFill>
                  <a:srgbClr val="232A34"/>
                </a:solidFill>
                <a:latin typeface="Aptos"/>
              </a:defRPr>
            </a:pPr>
            <a:r>
              <a:rPr>
                <a:highlight>
                  <a:srgbClr val="00FF00"/>
                </a:highlight>
              </a:rPr>
              <a:t>A.  Hierarchical Abstract Machine</a:t>
            </a:r>
          </a:p>
        </p:txBody>
      </p:sp>
      <p:sp>
        <p:nvSpPr>
          <p:cNvPr id="10" name="Rounded Rectangle 9"/>
          <p:cNvSpPr/>
          <p:nvPr/>
        </p:nvSpPr>
        <p:spPr>
          <a:xfrm>
            <a:off x="6263640" y="4297680"/>
            <a:ext cx="5257800" cy="749808"/>
          </a:xfrm>
          <a:prstGeom prst="roundRect">
            <a:avLst/>
          </a:prstGeom>
          <a:solidFill>
            <a:srgbClr val="E2F4E9"/>
          </a:solidFill>
          <a:ln w="17780">
            <a:solidFill>
              <a:srgbClr val="37A069"/>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l">
              <a:defRPr sz="1350" b="1">
                <a:solidFill>
                  <a:srgbClr val="232A34"/>
                </a:solidFill>
                <a:latin typeface="Aptos"/>
              </a:defRPr>
            </a:pPr>
            <a:r>
              <a:t>B.  Markov reward process</a:t>
            </a:r>
          </a:p>
        </p:txBody>
      </p:sp>
      <p:sp>
        <p:nvSpPr>
          <p:cNvPr id="11" name="Rounded Rectangle 10"/>
          <p:cNvSpPr/>
          <p:nvPr/>
        </p:nvSpPr>
        <p:spPr>
          <a:xfrm>
            <a:off x="685800" y="5349240"/>
            <a:ext cx="5257800" cy="749808"/>
          </a:xfrm>
          <a:prstGeom prst="roundRect">
            <a:avLst/>
          </a:prstGeom>
          <a:solidFill>
            <a:srgbClr val="FFF6D3"/>
          </a:solidFill>
          <a:ln w="17780">
            <a:solidFill>
              <a:srgbClr val="F2BE36"/>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l">
              <a:defRPr sz="1350" b="1">
                <a:solidFill>
                  <a:srgbClr val="232A34"/>
                </a:solidFill>
                <a:latin typeface="Aptos"/>
              </a:defRPr>
            </a:pPr>
            <a:r>
              <a:t>C.  multi-armed bandit</a:t>
            </a:r>
          </a:p>
        </p:txBody>
      </p:sp>
      <p:sp>
        <p:nvSpPr>
          <p:cNvPr id="12" name="Rounded Rectangle 11"/>
          <p:cNvSpPr/>
          <p:nvPr/>
        </p:nvSpPr>
        <p:spPr>
          <a:xfrm>
            <a:off x="6263640" y="5349240"/>
            <a:ext cx="5257800" cy="749808"/>
          </a:xfrm>
          <a:prstGeom prst="roundRect">
            <a:avLst/>
          </a:prstGeom>
          <a:solidFill>
            <a:srgbClr val="EDE6F9"/>
          </a:solidFill>
          <a:ln w="17780">
            <a:solidFill>
              <a:srgbClr val="7857B2"/>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l">
              <a:defRPr sz="1350" b="1">
                <a:solidFill>
                  <a:srgbClr val="232A34"/>
                </a:solidFill>
                <a:latin typeface="Aptos"/>
              </a:defRPr>
            </a:pPr>
            <a:r>
              <a:t>D.  policy gradient baseline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40080"/>
          </a:xfrm>
          <a:prstGeom prst="rect">
            <a:avLst/>
          </a:prstGeom>
          <a:solidFill>
            <a:srgbClr val="1422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109728"/>
            <a:ext cx="9784080" cy="365760"/>
          </a:xfrm>
          <a:prstGeom prst="rect">
            <a:avLst/>
          </a:prstGeom>
          <a:noFill/>
        </p:spPr>
        <p:txBody>
          <a:bodyPr wrap="square">
            <a:spAutoFit/>
          </a:bodyPr>
          <a:lstStyle/>
          <a:p>
            <a:pPr algn="l">
              <a:defRPr sz="2300" b="1">
                <a:solidFill>
                  <a:srgbClr val="FFFFFF"/>
                </a:solidFill>
                <a:latin typeface="Aptos"/>
              </a:defRPr>
            </a:pPr>
            <a:r>
              <a:t>Q4 • MAXQ — Value Decomposition</a:t>
            </a:r>
          </a:p>
        </p:txBody>
      </p:sp>
      <p:sp>
        <p:nvSpPr>
          <p:cNvPr id="4" name="TextBox 3"/>
          <p:cNvSpPr txBox="1"/>
          <p:nvPr/>
        </p:nvSpPr>
        <p:spPr>
          <a:xfrm>
            <a:off x="10332720" y="146304"/>
            <a:ext cx="1097280" cy="228600"/>
          </a:xfrm>
          <a:prstGeom prst="rect">
            <a:avLst/>
          </a:prstGeom>
          <a:noFill/>
        </p:spPr>
        <p:txBody>
          <a:bodyPr wrap="square">
            <a:spAutoFit/>
          </a:bodyPr>
          <a:lstStyle/>
          <a:p>
            <a:pPr algn="r">
              <a:defRPr sz="1000" b="1">
                <a:solidFill>
                  <a:srgbClr val="BECDE1"/>
                </a:solidFill>
                <a:latin typeface="Aptos"/>
              </a:defRPr>
            </a:pPr>
            <a:r>
              <a:t>05</a:t>
            </a:r>
          </a:p>
        </p:txBody>
      </p:sp>
      <p:sp>
        <p:nvSpPr>
          <p:cNvPr id="5" name="Rounded Rectangle 4"/>
          <p:cNvSpPr/>
          <p:nvPr/>
        </p:nvSpPr>
        <p:spPr>
          <a:xfrm>
            <a:off x="502920" y="914400"/>
            <a:ext cx="11155680" cy="1828800"/>
          </a:xfrm>
          <a:prstGeom prst="roundRect">
            <a:avLst/>
          </a:prstGeom>
          <a:solidFill>
            <a:srgbClr val="FFFFFF"/>
          </a:solidFill>
          <a:ln w="17780">
            <a:solidFill>
              <a:srgbClr val="EB7E37"/>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600" b="0">
                <a:solidFill>
                  <a:srgbClr val="232A34"/>
                </a:solidFill>
                <a:latin typeface="Aptos"/>
              </a:defRPr>
            </a:pPr>
            <a:endParaRPr/>
          </a:p>
        </p:txBody>
      </p:sp>
      <p:sp>
        <p:nvSpPr>
          <p:cNvPr id="6" name="TextBox 5"/>
          <p:cNvSpPr txBox="1"/>
          <p:nvPr/>
        </p:nvSpPr>
        <p:spPr>
          <a:xfrm>
            <a:off x="777240" y="1143000"/>
            <a:ext cx="10607040" cy="1325880"/>
          </a:xfrm>
          <a:prstGeom prst="rect">
            <a:avLst/>
          </a:prstGeom>
          <a:noFill/>
        </p:spPr>
        <p:txBody>
          <a:bodyPr wrap="square">
            <a:spAutoFit/>
          </a:bodyPr>
          <a:lstStyle/>
          <a:p>
            <a:pPr algn="ctr">
              <a:defRPr sz="1800" b="1">
                <a:solidFill>
                  <a:srgbClr val="14223D"/>
                </a:solidFill>
                <a:latin typeface="Aptos"/>
              </a:defRPr>
            </a:pPr>
            <a:r>
              <a:t>A navigation task is decomposed into Navigate-To-Room, Pick-Object, and Deliver-Object subtasks. Instead of learning one monolithic value function, the system estimates values associated with the subtasks and their parent task. This is characteristic of □□□□.</a:t>
            </a:r>
          </a:p>
        </p:txBody>
      </p:sp>
      <p:sp>
        <p:nvSpPr>
          <p:cNvPr id="7" name="Rounded Rectangle 6"/>
          <p:cNvSpPr/>
          <p:nvPr/>
        </p:nvSpPr>
        <p:spPr>
          <a:xfrm>
            <a:off x="3886200" y="2907792"/>
            <a:ext cx="4389120" cy="658368"/>
          </a:xfrm>
          <a:prstGeom prst="roundRect">
            <a:avLst/>
          </a:prstGeom>
          <a:solidFill>
            <a:srgbClr val="F5F7FA"/>
          </a:solidFill>
          <a:ln w="17780">
            <a:solidFill>
              <a:srgbClr val="EB7E37"/>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2400" b="1">
                <a:solidFill>
                  <a:srgbClr val="14223D"/>
                </a:solidFill>
                <a:latin typeface="Aptos"/>
              </a:defRPr>
            </a:pPr>
            <a:r>
              <a:t>□□□□</a:t>
            </a:r>
          </a:p>
        </p:txBody>
      </p:sp>
      <p:sp>
        <p:nvSpPr>
          <p:cNvPr id="8" name="TextBox 7"/>
          <p:cNvSpPr txBox="1"/>
          <p:nvPr/>
        </p:nvSpPr>
        <p:spPr>
          <a:xfrm>
            <a:off x="731520" y="3794760"/>
            <a:ext cx="10698480" cy="274320"/>
          </a:xfrm>
          <a:prstGeom prst="rect">
            <a:avLst/>
          </a:prstGeom>
          <a:noFill/>
        </p:spPr>
        <p:txBody>
          <a:bodyPr wrap="square">
            <a:spAutoFit/>
          </a:bodyPr>
          <a:lstStyle/>
          <a:p>
            <a:pPr algn="ctr">
              <a:defRPr sz="1200" b="0">
                <a:solidFill>
                  <a:srgbClr val="5C6878"/>
                </a:solidFill>
                <a:latin typeface="Aptos"/>
              </a:defRPr>
            </a:pPr>
            <a:r>
              <a:t>Select the option that correctly fills the missing concept.</a:t>
            </a:r>
          </a:p>
        </p:txBody>
      </p:sp>
      <p:sp>
        <p:nvSpPr>
          <p:cNvPr id="9" name="Rounded Rectangle 8"/>
          <p:cNvSpPr/>
          <p:nvPr/>
        </p:nvSpPr>
        <p:spPr>
          <a:xfrm>
            <a:off x="685800" y="4297680"/>
            <a:ext cx="5257800" cy="749808"/>
          </a:xfrm>
          <a:prstGeom prst="roundRect">
            <a:avLst/>
          </a:prstGeom>
          <a:solidFill>
            <a:srgbClr val="00B050"/>
          </a:solidFill>
          <a:ln w="17780">
            <a:solidFill>
              <a:srgbClr val="2672BE"/>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l">
              <a:defRPr sz="1350" b="1">
                <a:solidFill>
                  <a:srgbClr val="232A34"/>
                </a:solidFill>
                <a:latin typeface="Aptos"/>
              </a:defRPr>
            </a:pPr>
            <a:r>
              <a:rPr>
                <a:highlight>
                  <a:srgbClr val="00FF00"/>
                </a:highlight>
              </a:rPr>
              <a:t>A.  MAXQ decomposition</a:t>
            </a:r>
          </a:p>
        </p:txBody>
      </p:sp>
      <p:sp>
        <p:nvSpPr>
          <p:cNvPr id="10" name="Rounded Rectangle 9"/>
          <p:cNvSpPr/>
          <p:nvPr/>
        </p:nvSpPr>
        <p:spPr>
          <a:xfrm>
            <a:off x="6263640" y="4297680"/>
            <a:ext cx="5257800" cy="749808"/>
          </a:xfrm>
          <a:prstGeom prst="roundRect">
            <a:avLst/>
          </a:prstGeom>
          <a:solidFill>
            <a:srgbClr val="E2F4E9"/>
          </a:solidFill>
          <a:ln w="17780">
            <a:solidFill>
              <a:srgbClr val="37A069"/>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l">
              <a:defRPr sz="1350" b="1">
                <a:solidFill>
                  <a:srgbClr val="232A34"/>
                </a:solidFill>
                <a:latin typeface="Aptos"/>
              </a:defRPr>
            </a:pPr>
            <a:r>
              <a:t>B.  Monte Carlo tree search</a:t>
            </a:r>
          </a:p>
        </p:txBody>
      </p:sp>
      <p:sp>
        <p:nvSpPr>
          <p:cNvPr id="11" name="Rounded Rectangle 10"/>
          <p:cNvSpPr/>
          <p:nvPr/>
        </p:nvSpPr>
        <p:spPr>
          <a:xfrm>
            <a:off x="685800" y="5349240"/>
            <a:ext cx="5257800" cy="749808"/>
          </a:xfrm>
          <a:prstGeom prst="roundRect">
            <a:avLst/>
          </a:prstGeom>
          <a:solidFill>
            <a:srgbClr val="FFF6D3"/>
          </a:solidFill>
          <a:ln w="17780">
            <a:solidFill>
              <a:srgbClr val="F2BE36"/>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l">
              <a:defRPr sz="1350" b="1">
                <a:solidFill>
                  <a:srgbClr val="232A34"/>
                </a:solidFill>
                <a:latin typeface="Aptos"/>
              </a:defRPr>
            </a:pPr>
            <a:r>
              <a:t>C.  Q-learning without states</a:t>
            </a:r>
          </a:p>
        </p:txBody>
      </p:sp>
      <p:sp>
        <p:nvSpPr>
          <p:cNvPr id="12" name="Rounded Rectangle 11"/>
          <p:cNvSpPr/>
          <p:nvPr/>
        </p:nvSpPr>
        <p:spPr>
          <a:xfrm>
            <a:off x="6263640" y="5349240"/>
            <a:ext cx="5257800" cy="749808"/>
          </a:xfrm>
          <a:prstGeom prst="roundRect">
            <a:avLst/>
          </a:prstGeom>
          <a:solidFill>
            <a:srgbClr val="EDE6F9"/>
          </a:solidFill>
          <a:ln w="17780">
            <a:solidFill>
              <a:srgbClr val="7857B2"/>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l">
              <a:defRPr sz="1350" b="1">
                <a:solidFill>
                  <a:srgbClr val="232A34"/>
                </a:solidFill>
                <a:latin typeface="Aptos"/>
              </a:defRPr>
            </a:pPr>
            <a:r>
              <a:t>D.  belief-state filtering</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40080"/>
          </a:xfrm>
          <a:prstGeom prst="rect">
            <a:avLst/>
          </a:prstGeom>
          <a:solidFill>
            <a:srgbClr val="1422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109728"/>
            <a:ext cx="9784080" cy="365760"/>
          </a:xfrm>
          <a:prstGeom prst="rect">
            <a:avLst/>
          </a:prstGeom>
          <a:noFill/>
        </p:spPr>
        <p:txBody>
          <a:bodyPr wrap="square">
            <a:spAutoFit/>
          </a:bodyPr>
          <a:lstStyle/>
          <a:p>
            <a:pPr algn="l">
              <a:defRPr sz="2300" b="1">
                <a:solidFill>
                  <a:srgbClr val="FFFFFF"/>
                </a:solidFill>
                <a:latin typeface="Aptos"/>
              </a:defRPr>
            </a:pPr>
            <a:r>
              <a:t>Q5 • Meta-RL — Fast Adaptation</a:t>
            </a:r>
          </a:p>
        </p:txBody>
      </p:sp>
      <p:sp>
        <p:nvSpPr>
          <p:cNvPr id="4" name="TextBox 3"/>
          <p:cNvSpPr txBox="1"/>
          <p:nvPr/>
        </p:nvSpPr>
        <p:spPr>
          <a:xfrm>
            <a:off x="10332720" y="146304"/>
            <a:ext cx="1097280" cy="228600"/>
          </a:xfrm>
          <a:prstGeom prst="rect">
            <a:avLst/>
          </a:prstGeom>
          <a:noFill/>
        </p:spPr>
        <p:txBody>
          <a:bodyPr wrap="square">
            <a:spAutoFit/>
          </a:bodyPr>
          <a:lstStyle/>
          <a:p>
            <a:pPr algn="r">
              <a:defRPr sz="1000" b="1">
                <a:solidFill>
                  <a:srgbClr val="BECDE1"/>
                </a:solidFill>
                <a:latin typeface="Aptos"/>
              </a:defRPr>
            </a:pPr>
            <a:r>
              <a:t>06</a:t>
            </a:r>
          </a:p>
        </p:txBody>
      </p:sp>
      <p:sp>
        <p:nvSpPr>
          <p:cNvPr id="5" name="Rounded Rectangle 4"/>
          <p:cNvSpPr/>
          <p:nvPr/>
        </p:nvSpPr>
        <p:spPr>
          <a:xfrm>
            <a:off x="502920" y="914400"/>
            <a:ext cx="11155680" cy="1828800"/>
          </a:xfrm>
          <a:prstGeom prst="roundRect">
            <a:avLst/>
          </a:prstGeom>
          <a:solidFill>
            <a:srgbClr val="FFFFFF"/>
          </a:solidFill>
          <a:ln w="17780">
            <a:solidFill>
              <a:srgbClr val="22918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600" b="0">
                <a:solidFill>
                  <a:srgbClr val="232A34"/>
                </a:solidFill>
                <a:latin typeface="Aptos"/>
              </a:defRPr>
            </a:pPr>
            <a:endParaRPr/>
          </a:p>
        </p:txBody>
      </p:sp>
      <p:sp>
        <p:nvSpPr>
          <p:cNvPr id="6" name="TextBox 5"/>
          <p:cNvSpPr txBox="1"/>
          <p:nvPr/>
        </p:nvSpPr>
        <p:spPr>
          <a:xfrm>
            <a:off x="777240" y="1143000"/>
            <a:ext cx="10607040" cy="1325880"/>
          </a:xfrm>
          <a:prstGeom prst="rect">
            <a:avLst/>
          </a:prstGeom>
          <a:noFill/>
        </p:spPr>
        <p:txBody>
          <a:bodyPr wrap="square">
            <a:spAutoFit/>
          </a:bodyPr>
          <a:lstStyle/>
          <a:p>
            <a:pPr algn="ctr">
              <a:defRPr sz="1800" b="1">
                <a:solidFill>
                  <a:srgbClr val="14223D"/>
                </a:solidFill>
                <a:latin typeface="Aptos"/>
              </a:defRPr>
            </a:pPr>
            <a:r>
              <a:t>During training, an RL agent encounters hundreds of related traffic-control tasks with different traffic patterns. At deployment, it receives only a small amount of experience from a new pattern and adapts rapidly. The training objective is best described as □□□□.</a:t>
            </a:r>
          </a:p>
        </p:txBody>
      </p:sp>
      <p:sp>
        <p:nvSpPr>
          <p:cNvPr id="7" name="Rounded Rectangle 6"/>
          <p:cNvSpPr/>
          <p:nvPr/>
        </p:nvSpPr>
        <p:spPr>
          <a:xfrm>
            <a:off x="3886200" y="2907792"/>
            <a:ext cx="4389120" cy="658368"/>
          </a:xfrm>
          <a:prstGeom prst="roundRect">
            <a:avLst/>
          </a:prstGeom>
          <a:solidFill>
            <a:srgbClr val="F5F7FA"/>
          </a:solidFill>
          <a:ln w="17780">
            <a:solidFill>
              <a:srgbClr val="22918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2400" b="1">
                <a:solidFill>
                  <a:srgbClr val="14223D"/>
                </a:solidFill>
                <a:latin typeface="Aptos"/>
              </a:defRPr>
            </a:pPr>
            <a:r>
              <a:t>□□□□</a:t>
            </a:r>
          </a:p>
        </p:txBody>
      </p:sp>
      <p:sp>
        <p:nvSpPr>
          <p:cNvPr id="8" name="TextBox 7"/>
          <p:cNvSpPr txBox="1"/>
          <p:nvPr/>
        </p:nvSpPr>
        <p:spPr>
          <a:xfrm>
            <a:off x="731520" y="3794760"/>
            <a:ext cx="10698480" cy="274320"/>
          </a:xfrm>
          <a:prstGeom prst="rect">
            <a:avLst/>
          </a:prstGeom>
          <a:noFill/>
        </p:spPr>
        <p:txBody>
          <a:bodyPr wrap="square">
            <a:spAutoFit/>
          </a:bodyPr>
          <a:lstStyle/>
          <a:p>
            <a:pPr algn="ctr">
              <a:defRPr sz="1200" b="0">
                <a:solidFill>
                  <a:srgbClr val="5C6878"/>
                </a:solidFill>
                <a:latin typeface="Aptos"/>
              </a:defRPr>
            </a:pPr>
            <a:r>
              <a:t>Select the option that correctly fills the missing concept.</a:t>
            </a:r>
          </a:p>
        </p:txBody>
      </p:sp>
      <p:sp>
        <p:nvSpPr>
          <p:cNvPr id="9" name="Rounded Rectangle 8"/>
          <p:cNvSpPr/>
          <p:nvPr/>
        </p:nvSpPr>
        <p:spPr>
          <a:xfrm>
            <a:off x="685800" y="4297680"/>
            <a:ext cx="5257800" cy="749808"/>
          </a:xfrm>
          <a:prstGeom prst="roundRect">
            <a:avLst/>
          </a:prstGeom>
          <a:solidFill>
            <a:srgbClr val="00B050"/>
          </a:solidFill>
          <a:ln w="17780">
            <a:solidFill>
              <a:srgbClr val="2672BE"/>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l">
              <a:defRPr sz="1350" b="1">
                <a:solidFill>
                  <a:srgbClr val="232A34"/>
                </a:solidFill>
                <a:latin typeface="Aptos"/>
              </a:defRPr>
            </a:pPr>
            <a:r>
              <a:rPr dirty="0">
                <a:highlight>
                  <a:srgbClr val="00FF00"/>
                </a:highlight>
              </a:rPr>
              <a:t>A.  learning a transferable learning strategy</a:t>
            </a:r>
          </a:p>
        </p:txBody>
      </p:sp>
      <p:sp>
        <p:nvSpPr>
          <p:cNvPr id="10" name="Rounded Rectangle 9"/>
          <p:cNvSpPr/>
          <p:nvPr/>
        </p:nvSpPr>
        <p:spPr>
          <a:xfrm>
            <a:off x="6263640" y="4297680"/>
            <a:ext cx="5257800" cy="749808"/>
          </a:xfrm>
          <a:prstGeom prst="roundRect">
            <a:avLst/>
          </a:prstGeom>
          <a:solidFill>
            <a:srgbClr val="E2F4E9"/>
          </a:solidFill>
          <a:ln w="17780">
            <a:solidFill>
              <a:srgbClr val="37A069"/>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l">
              <a:defRPr sz="1350" b="1">
                <a:solidFill>
                  <a:srgbClr val="232A34"/>
                </a:solidFill>
                <a:latin typeface="Aptos"/>
              </a:defRPr>
            </a:pPr>
            <a:r>
              <a:rPr dirty="0"/>
              <a:t>B.  maximizing a fixed single-task policy</a:t>
            </a:r>
          </a:p>
        </p:txBody>
      </p:sp>
      <p:sp>
        <p:nvSpPr>
          <p:cNvPr id="11" name="Rounded Rectangle 10"/>
          <p:cNvSpPr/>
          <p:nvPr/>
        </p:nvSpPr>
        <p:spPr>
          <a:xfrm>
            <a:off x="685800" y="5349240"/>
            <a:ext cx="5257800" cy="749808"/>
          </a:xfrm>
          <a:prstGeom prst="roundRect">
            <a:avLst/>
          </a:prstGeom>
          <a:solidFill>
            <a:srgbClr val="FFF6D3"/>
          </a:solidFill>
          <a:ln w="17780">
            <a:solidFill>
              <a:srgbClr val="F2BE36"/>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l">
              <a:defRPr sz="1350" b="1">
                <a:solidFill>
                  <a:srgbClr val="232A34"/>
                </a:solidFill>
                <a:latin typeface="Aptos"/>
              </a:defRPr>
            </a:pPr>
            <a:r>
              <a:t>C.  removing task variability completely</a:t>
            </a:r>
          </a:p>
        </p:txBody>
      </p:sp>
      <p:sp>
        <p:nvSpPr>
          <p:cNvPr id="12" name="Rounded Rectangle 11"/>
          <p:cNvSpPr/>
          <p:nvPr/>
        </p:nvSpPr>
        <p:spPr>
          <a:xfrm>
            <a:off x="6263640" y="5349240"/>
            <a:ext cx="5257800" cy="749808"/>
          </a:xfrm>
          <a:prstGeom prst="roundRect">
            <a:avLst/>
          </a:prstGeom>
          <a:solidFill>
            <a:srgbClr val="EDE6F9"/>
          </a:solidFill>
          <a:ln w="17780">
            <a:solidFill>
              <a:srgbClr val="7857B2"/>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l">
              <a:defRPr sz="1350" b="1">
                <a:solidFill>
                  <a:srgbClr val="232A34"/>
                </a:solidFill>
                <a:latin typeface="Aptos"/>
              </a:defRPr>
            </a:pPr>
            <a:r>
              <a:t>D.  replacing rewards with supervised labels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40080"/>
          </a:xfrm>
          <a:prstGeom prst="rect">
            <a:avLst/>
          </a:prstGeom>
          <a:solidFill>
            <a:srgbClr val="1422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109728"/>
            <a:ext cx="9784080" cy="365760"/>
          </a:xfrm>
          <a:prstGeom prst="rect">
            <a:avLst/>
          </a:prstGeom>
          <a:noFill/>
        </p:spPr>
        <p:txBody>
          <a:bodyPr wrap="square">
            <a:spAutoFit/>
          </a:bodyPr>
          <a:lstStyle/>
          <a:p>
            <a:pPr algn="l">
              <a:defRPr sz="2300" b="1">
                <a:solidFill>
                  <a:srgbClr val="FFFFFF"/>
                </a:solidFill>
                <a:latin typeface="Aptos"/>
              </a:defRPr>
            </a:pPr>
            <a:r>
              <a:t>Q6 • MARL — Non-Stationarity</a:t>
            </a:r>
          </a:p>
        </p:txBody>
      </p:sp>
      <p:sp>
        <p:nvSpPr>
          <p:cNvPr id="4" name="TextBox 3"/>
          <p:cNvSpPr txBox="1"/>
          <p:nvPr/>
        </p:nvSpPr>
        <p:spPr>
          <a:xfrm>
            <a:off x="10332720" y="146304"/>
            <a:ext cx="1097280" cy="228600"/>
          </a:xfrm>
          <a:prstGeom prst="rect">
            <a:avLst/>
          </a:prstGeom>
          <a:noFill/>
        </p:spPr>
        <p:txBody>
          <a:bodyPr wrap="square">
            <a:spAutoFit/>
          </a:bodyPr>
          <a:lstStyle/>
          <a:p>
            <a:pPr algn="r">
              <a:defRPr sz="1000" b="1">
                <a:solidFill>
                  <a:srgbClr val="BECDE1"/>
                </a:solidFill>
                <a:latin typeface="Aptos"/>
              </a:defRPr>
            </a:pPr>
            <a:r>
              <a:t>07</a:t>
            </a:r>
          </a:p>
        </p:txBody>
      </p:sp>
      <p:sp>
        <p:nvSpPr>
          <p:cNvPr id="5" name="Rounded Rectangle 4"/>
          <p:cNvSpPr/>
          <p:nvPr/>
        </p:nvSpPr>
        <p:spPr>
          <a:xfrm>
            <a:off x="502920" y="914400"/>
            <a:ext cx="11155680" cy="1828800"/>
          </a:xfrm>
          <a:prstGeom prst="roundRect">
            <a:avLst/>
          </a:prstGeom>
          <a:solidFill>
            <a:srgbClr val="FFFFFF"/>
          </a:solidFill>
          <a:ln w="17780">
            <a:solidFill>
              <a:srgbClr val="CD4848"/>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600" b="0">
                <a:solidFill>
                  <a:srgbClr val="232A34"/>
                </a:solidFill>
                <a:latin typeface="Aptos"/>
              </a:defRPr>
            </a:pPr>
            <a:endParaRPr/>
          </a:p>
        </p:txBody>
      </p:sp>
      <p:sp>
        <p:nvSpPr>
          <p:cNvPr id="6" name="TextBox 5"/>
          <p:cNvSpPr txBox="1"/>
          <p:nvPr/>
        </p:nvSpPr>
        <p:spPr>
          <a:xfrm>
            <a:off x="777240" y="1143000"/>
            <a:ext cx="10607040" cy="1325880"/>
          </a:xfrm>
          <a:prstGeom prst="rect">
            <a:avLst/>
          </a:prstGeom>
          <a:noFill/>
        </p:spPr>
        <p:txBody>
          <a:bodyPr wrap="square">
            <a:spAutoFit/>
          </a:bodyPr>
          <a:lstStyle/>
          <a:p>
            <a:pPr algn="ctr">
              <a:defRPr sz="1800" b="1">
                <a:solidFill>
                  <a:srgbClr val="14223D"/>
                </a:solidFill>
                <a:latin typeface="Aptos"/>
              </a:defRPr>
            </a:pPr>
            <a:r>
              <a:t>Two autonomous vehicles learn simultaneously. Vehicle A updates its policy, changing the behavior that Vehicle B observes, even though the road environment itself has not changed. From Vehicle B's learning perspective, the environment becomes effectively □□□□.</a:t>
            </a:r>
          </a:p>
        </p:txBody>
      </p:sp>
      <p:sp>
        <p:nvSpPr>
          <p:cNvPr id="7" name="Rounded Rectangle 6"/>
          <p:cNvSpPr/>
          <p:nvPr/>
        </p:nvSpPr>
        <p:spPr>
          <a:xfrm>
            <a:off x="3886200" y="2907792"/>
            <a:ext cx="4389120" cy="658368"/>
          </a:xfrm>
          <a:prstGeom prst="roundRect">
            <a:avLst/>
          </a:prstGeom>
          <a:solidFill>
            <a:srgbClr val="F5F7FA"/>
          </a:solidFill>
          <a:ln w="17780">
            <a:solidFill>
              <a:srgbClr val="CD4848"/>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2400" b="1">
                <a:solidFill>
                  <a:srgbClr val="14223D"/>
                </a:solidFill>
                <a:latin typeface="Aptos"/>
              </a:defRPr>
            </a:pPr>
            <a:r>
              <a:t>□□□□</a:t>
            </a:r>
          </a:p>
        </p:txBody>
      </p:sp>
      <p:sp>
        <p:nvSpPr>
          <p:cNvPr id="8" name="TextBox 7"/>
          <p:cNvSpPr txBox="1"/>
          <p:nvPr/>
        </p:nvSpPr>
        <p:spPr>
          <a:xfrm>
            <a:off x="731520" y="3794760"/>
            <a:ext cx="10698480" cy="274320"/>
          </a:xfrm>
          <a:prstGeom prst="rect">
            <a:avLst/>
          </a:prstGeom>
          <a:noFill/>
        </p:spPr>
        <p:txBody>
          <a:bodyPr wrap="square">
            <a:spAutoFit/>
          </a:bodyPr>
          <a:lstStyle/>
          <a:p>
            <a:pPr algn="ctr">
              <a:defRPr sz="1200" b="0">
                <a:solidFill>
                  <a:srgbClr val="5C6878"/>
                </a:solidFill>
                <a:latin typeface="Aptos"/>
              </a:defRPr>
            </a:pPr>
            <a:r>
              <a:t>Select the option that correctly fills the missing concept.</a:t>
            </a:r>
          </a:p>
        </p:txBody>
      </p:sp>
      <p:sp>
        <p:nvSpPr>
          <p:cNvPr id="9" name="Rounded Rectangle 8"/>
          <p:cNvSpPr/>
          <p:nvPr/>
        </p:nvSpPr>
        <p:spPr>
          <a:xfrm>
            <a:off x="685800" y="4297680"/>
            <a:ext cx="5257800" cy="749808"/>
          </a:xfrm>
          <a:prstGeom prst="roundRect">
            <a:avLst/>
          </a:prstGeom>
          <a:solidFill>
            <a:srgbClr val="00B050"/>
          </a:solidFill>
          <a:ln w="17780">
            <a:solidFill>
              <a:srgbClr val="2672BE"/>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l">
              <a:defRPr sz="1350" b="1">
                <a:solidFill>
                  <a:srgbClr val="232A34"/>
                </a:solidFill>
                <a:latin typeface="Aptos"/>
              </a:defRPr>
            </a:pPr>
            <a:r>
              <a:rPr dirty="0">
                <a:highlight>
                  <a:srgbClr val="00FF00"/>
                </a:highlight>
              </a:rPr>
              <a:t>A.  stationary</a:t>
            </a:r>
          </a:p>
        </p:txBody>
      </p:sp>
      <p:sp>
        <p:nvSpPr>
          <p:cNvPr id="10" name="Rounded Rectangle 9"/>
          <p:cNvSpPr/>
          <p:nvPr/>
        </p:nvSpPr>
        <p:spPr>
          <a:xfrm>
            <a:off x="6263640" y="4297680"/>
            <a:ext cx="5257800" cy="749808"/>
          </a:xfrm>
          <a:prstGeom prst="roundRect">
            <a:avLst/>
          </a:prstGeom>
          <a:solidFill>
            <a:srgbClr val="E2F4E9"/>
          </a:solidFill>
          <a:ln w="17780">
            <a:solidFill>
              <a:srgbClr val="37A069"/>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l">
              <a:defRPr sz="1350" b="1">
                <a:solidFill>
                  <a:srgbClr val="232A34"/>
                </a:solidFill>
                <a:latin typeface="Aptos"/>
              </a:defRPr>
            </a:pPr>
            <a:r>
              <a:t>B.  non-stationary</a:t>
            </a:r>
          </a:p>
        </p:txBody>
      </p:sp>
      <p:sp>
        <p:nvSpPr>
          <p:cNvPr id="11" name="Rounded Rectangle 10"/>
          <p:cNvSpPr/>
          <p:nvPr/>
        </p:nvSpPr>
        <p:spPr>
          <a:xfrm>
            <a:off x="685800" y="5349240"/>
            <a:ext cx="5257800" cy="749808"/>
          </a:xfrm>
          <a:prstGeom prst="roundRect">
            <a:avLst/>
          </a:prstGeom>
          <a:solidFill>
            <a:srgbClr val="FFF6D3"/>
          </a:solidFill>
          <a:ln w="17780">
            <a:solidFill>
              <a:srgbClr val="F2BE36"/>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l">
              <a:defRPr sz="1350" b="1">
                <a:solidFill>
                  <a:srgbClr val="232A34"/>
                </a:solidFill>
                <a:latin typeface="Aptos"/>
              </a:defRPr>
            </a:pPr>
            <a:r>
              <a:t>C.  fully observable</a:t>
            </a:r>
          </a:p>
        </p:txBody>
      </p:sp>
      <p:sp>
        <p:nvSpPr>
          <p:cNvPr id="12" name="Rounded Rectangle 11"/>
          <p:cNvSpPr/>
          <p:nvPr/>
        </p:nvSpPr>
        <p:spPr>
          <a:xfrm>
            <a:off x="6263640" y="5349240"/>
            <a:ext cx="5257800" cy="749808"/>
          </a:xfrm>
          <a:prstGeom prst="roundRect">
            <a:avLst/>
          </a:prstGeom>
          <a:solidFill>
            <a:srgbClr val="EDE6F9"/>
          </a:solidFill>
          <a:ln w="17780">
            <a:solidFill>
              <a:srgbClr val="7857B2"/>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l">
              <a:defRPr sz="1350" b="1">
                <a:solidFill>
                  <a:srgbClr val="232A34"/>
                </a:solidFill>
                <a:latin typeface="Aptos"/>
              </a:defRPr>
            </a:pPr>
            <a:r>
              <a:t>D.  deterministic</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40080"/>
          </a:xfrm>
          <a:prstGeom prst="rect">
            <a:avLst/>
          </a:prstGeom>
          <a:solidFill>
            <a:srgbClr val="1422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109728"/>
            <a:ext cx="9784080" cy="365760"/>
          </a:xfrm>
          <a:prstGeom prst="rect">
            <a:avLst/>
          </a:prstGeom>
          <a:noFill/>
        </p:spPr>
        <p:txBody>
          <a:bodyPr wrap="square">
            <a:spAutoFit/>
          </a:bodyPr>
          <a:lstStyle/>
          <a:p>
            <a:pPr algn="l">
              <a:defRPr sz="2300" b="1">
                <a:solidFill>
                  <a:srgbClr val="FFFFFF"/>
                </a:solidFill>
                <a:latin typeface="Aptos"/>
              </a:defRPr>
            </a:pPr>
            <a:r>
              <a:t>Q7 • MARL — Credit Assignment</a:t>
            </a:r>
          </a:p>
        </p:txBody>
      </p:sp>
      <p:sp>
        <p:nvSpPr>
          <p:cNvPr id="4" name="TextBox 3"/>
          <p:cNvSpPr txBox="1"/>
          <p:nvPr/>
        </p:nvSpPr>
        <p:spPr>
          <a:xfrm>
            <a:off x="10332720" y="146304"/>
            <a:ext cx="1097280" cy="228600"/>
          </a:xfrm>
          <a:prstGeom prst="rect">
            <a:avLst/>
          </a:prstGeom>
          <a:noFill/>
        </p:spPr>
        <p:txBody>
          <a:bodyPr wrap="square">
            <a:spAutoFit/>
          </a:bodyPr>
          <a:lstStyle/>
          <a:p>
            <a:pPr algn="r">
              <a:defRPr sz="1000" b="1">
                <a:solidFill>
                  <a:srgbClr val="BECDE1"/>
                </a:solidFill>
                <a:latin typeface="Aptos"/>
              </a:defRPr>
            </a:pPr>
            <a:r>
              <a:t>08</a:t>
            </a:r>
          </a:p>
        </p:txBody>
      </p:sp>
      <p:sp>
        <p:nvSpPr>
          <p:cNvPr id="5" name="Rounded Rectangle 4"/>
          <p:cNvSpPr/>
          <p:nvPr/>
        </p:nvSpPr>
        <p:spPr>
          <a:xfrm>
            <a:off x="502920" y="914400"/>
            <a:ext cx="11155680" cy="1828800"/>
          </a:xfrm>
          <a:prstGeom prst="roundRect">
            <a:avLst/>
          </a:prstGeom>
          <a:solidFill>
            <a:srgbClr val="FFFFFF"/>
          </a:solidFill>
          <a:ln w="17780">
            <a:solidFill>
              <a:srgbClr val="37A069"/>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600" b="0">
                <a:solidFill>
                  <a:srgbClr val="232A34"/>
                </a:solidFill>
                <a:latin typeface="Aptos"/>
              </a:defRPr>
            </a:pPr>
            <a:endParaRPr/>
          </a:p>
        </p:txBody>
      </p:sp>
      <p:sp>
        <p:nvSpPr>
          <p:cNvPr id="6" name="TextBox 5"/>
          <p:cNvSpPr txBox="1"/>
          <p:nvPr/>
        </p:nvSpPr>
        <p:spPr>
          <a:xfrm>
            <a:off x="777240" y="1143000"/>
            <a:ext cx="10607040" cy="1325880"/>
          </a:xfrm>
          <a:prstGeom prst="rect">
            <a:avLst/>
          </a:prstGeom>
          <a:noFill/>
        </p:spPr>
        <p:txBody>
          <a:bodyPr wrap="square">
            <a:spAutoFit/>
          </a:bodyPr>
          <a:lstStyle/>
          <a:p>
            <a:pPr algn="ctr">
              <a:defRPr sz="1800" b="1">
                <a:solidFill>
                  <a:srgbClr val="14223D"/>
                </a:solidFill>
                <a:latin typeface="Aptos"/>
              </a:defRPr>
            </a:pPr>
            <a:r>
              <a:t>Four agents cooperate to complete a task, but only one shared reward is received after completion. The main difficulty is determining which agent's actions contributed to the final outcome. This challenge is called □□□□.</a:t>
            </a:r>
          </a:p>
        </p:txBody>
      </p:sp>
      <p:sp>
        <p:nvSpPr>
          <p:cNvPr id="7" name="Rounded Rectangle 6"/>
          <p:cNvSpPr/>
          <p:nvPr/>
        </p:nvSpPr>
        <p:spPr>
          <a:xfrm>
            <a:off x="3886200" y="2907792"/>
            <a:ext cx="4389120" cy="658368"/>
          </a:xfrm>
          <a:prstGeom prst="roundRect">
            <a:avLst/>
          </a:prstGeom>
          <a:solidFill>
            <a:srgbClr val="F5F7FA"/>
          </a:solidFill>
          <a:ln w="17780">
            <a:solidFill>
              <a:srgbClr val="37A069"/>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2400" b="1">
                <a:solidFill>
                  <a:srgbClr val="14223D"/>
                </a:solidFill>
                <a:latin typeface="Aptos"/>
              </a:defRPr>
            </a:pPr>
            <a:r>
              <a:t>□□□□</a:t>
            </a:r>
          </a:p>
        </p:txBody>
      </p:sp>
      <p:sp>
        <p:nvSpPr>
          <p:cNvPr id="8" name="TextBox 7"/>
          <p:cNvSpPr txBox="1"/>
          <p:nvPr/>
        </p:nvSpPr>
        <p:spPr>
          <a:xfrm>
            <a:off x="731520" y="3794760"/>
            <a:ext cx="10698480" cy="274320"/>
          </a:xfrm>
          <a:prstGeom prst="rect">
            <a:avLst/>
          </a:prstGeom>
          <a:noFill/>
        </p:spPr>
        <p:txBody>
          <a:bodyPr wrap="square">
            <a:spAutoFit/>
          </a:bodyPr>
          <a:lstStyle/>
          <a:p>
            <a:pPr algn="ctr">
              <a:defRPr sz="1200" b="0">
                <a:solidFill>
                  <a:srgbClr val="5C6878"/>
                </a:solidFill>
                <a:latin typeface="Aptos"/>
              </a:defRPr>
            </a:pPr>
            <a:r>
              <a:t>Select the option that correctly fills the missing concept.</a:t>
            </a:r>
          </a:p>
        </p:txBody>
      </p:sp>
      <p:sp>
        <p:nvSpPr>
          <p:cNvPr id="9" name="Rounded Rectangle 8"/>
          <p:cNvSpPr/>
          <p:nvPr/>
        </p:nvSpPr>
        <p:spPr>
          <a:xfrm>
            <a:off x="685800" y="4297680"/>
            <a:ext cx="5257800" cy="749808"/>
          </a:xfrm>
          <a:prstGeom prst="roundRect">
            <a:avLst/>
          </a:prstGeom>
          <a:solidFill>
            <a:srgbClr val="00B050"/>
          </a:solidFill>
          <a:ln w="17780">
            <a:solidFill>
              <a:srgbClr val="2672BE"/>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l">
              <a:defRPr sz="1350" b="1">
                <a:solidFill>
                  <a:srgbClr val="232A34"/>
                </a:solidFill>
                <a:latin typeface="Aptos"/>
              </a:defRPr>
            </a:pPr>
            <a:r>
              <a:rPr>
                <a:highlight>
                  <a:srgbClr val="00FF00"/>
                </a:highlight>
              </a:rPr>
              <a:t>A.  credit assignment</a:t>
            </a:r>
          </a:p>
        </p:txBody>
      </p:sp>
      <p:sp>
        <p:nvSpPr>
          <p:cNvPr id="10" name="Rounded Rectangle 9"/>
          <p:cNvSpPr/>
          <p:nvPr/>
        </p:nvSpPr>
        <p:spPr>
          <a:xfrm>
            <a:off x="6263640" y="4297680"/>
            <a:ext cx="5257800" cy="749808"/>
          </a:xfrm>
          <a:prstGeom prst="roundRect">
            <a:avLst/>
          </a:prstGeom>
          <a:solidFill>
            <a:srgbClr val="E2F4E9"/>
          </a:solidFill>
          <a:ln w="17780">
            <a:solidFill>
              <a:srgbClr val="37A069"/>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l">
              <a:defRPr sz="1350" b="1">
                <a:solidFill>
                  <a:srgbClr val="232A34"/>
                </a:solidFill>
                <a:latin typeface="Aptos"/>
              </a:defRPr>
            </a:pPr>
            <a:r>
              <a:t>B.  temporal abstraction</a:t>
            </a:r>
          </a:p>
        </p:txBody>
      </p:sp>
      <p:sp>
        <p:nvSpPr>
          <p:cNvPr id="11" name="Rounded Rectangle 10"/>
          <p:cNvSpPr/>
          <p:nvPr/>
        </p:nvSpPr>
        <p:spPr>
          <a:xfrm>
            <a:off x="685800" y="5349240"/>
            <a:ext cx="5257800" cy="749808"/>
          </a:xfrm>
          <a:prstGeom prst="roundRect">
            <a:avLst/>
          </a:prstGeom>
          <a:solidFill>
            <a:srgbClr val="FFF6D3"/>
          </a:solidFill>
          <a:ln w="17780">
            <a:solidFill>
              <a:srgbClr val="F2BE36"/>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l">
              <a:defRPr sz="1350" b="1">
                <a:solidFill>
                  <a:srgbClr val="232A34"/>
                </a:solidFill>
                <a:latin typeface="Aptos"/>
              </a:defRPr>
            </a:pPr>
            <a:r>
              <a:t>C.  belief updating</a:t>
            </a:r>
          </a:p>
        </p:txBody>
      </p:sp>
      <p:sp>
        <p:nvSpPr>
          <p:cNvPr id="12" name="Rounded Rectangle 11"/>
          <p:cNvSpPr/>
          <p:nvPr/>
        </p:nvSpPr>
        <p:spPr>
          <a:xfrm>
            <a:off x="6263640" y="5349240"/>
            <a:ext cx="5257800" cy="749808"/>
          </a:xfrm>
          <a:prstGeom prst="roundRect">
            <a:avLst/>
          </a:prstGeom>
          <a:solidFill>
            <a:srgbClr val="EDE6F9"/>
          </a:solidFill>
          <a:ln w="17780">
            <a:solidFill>
              <a:srgbClr val="7857B2"/>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l">
              <a:defRPr sz="1350" b="1">
                <a:solidFill>
                  <a:srgbClr val="232A34"/>
                </a:solidFill>
                <a:latin typeface="Aptos"/>
              </a:defRPr>
            </a:pPr>
            <a:r>
              <a:t>D.  domain randomization</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40080"/>
          </a:xfrm>
          <a:prstGeom prst="rect">
            <a:avLst/>
          </a:prstGeom>
          <a:solidFill>
            <a:srgbClr val="1422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109728"/>
            <a:ext cx="9784080" cy="365760"/>
          </a:xfrm>
          <a:prstGeom prst="rect">
            <a:avLst/>
          </a:prstGeom>
          <a:noFill/>
        </p:spPr>
        <p:txBody>
          <a:bodyPr wrap="square">
            <a:spAutoFit/>
          </a:bodyPr>
          <a:lstStyle/>
          <a:p>
            <a:pPr algn="l">
              <a:defRPr sz="2300" b="1">
                <a:solidFill>
                  <a:srgbClr val="FFFFFF"/>
                </a:solidFill>
                <a:latin typeface="Aptos"/>
              </a:defRPr>
            </a:pPr>
            <a:r>
              <a:t>Q8 • POMDP — Belief State</a:t>
            </a:r>
          </a:p>
        </p:txBody>
      </p:sp>
      <p:sp>
        <p:nvSpPr>
          <p:cNvPr id="4" name="TextBox 3"/>
          <p:cNvSpPr txBox="1"/>
          <p:nvPr/>
        </p:nvSpPr>
        <p:spPr>
          <a:xfrm>
            <a:off x="10332720" y="146304"/>
            <a:ext cx="1097280" cy="228600"/>
          </a:xfrm>
          <a:prstGeom prst="rect">
            <a:avLst/>
          </a:prstGeom>
          <a:noFill/>
        </p:spPr>
        <p:txBody>
          <a:bodyPr wrap="square">
            <a:spAutoFit/>
          </a:bodyPr>
          <a:lstStyle/>
          <a:p>
            <a:pPr algn="r">
              <a:defRPr sz="1000" b="1">
                <a:solidFill>
                  <a:srgbClr val="BECDE1"/>
                </a:solidFill>
                <a:latin typeface="Aptos"/>
              </a:defRPr>
            </a:pPr>
            <a:r>
              <a:t>09</a:t>
            </a:r>
          </a:p>
        </p:txBody>
      </p:sp>
      <p:sp>
        <p:nvSpPr>
          <p:cNvPr id="5" name="Rounded Rectangle 4"/>
          <p:cNvSpPr/>
          <p:nvPr/>
        </p:nvSpPr>
        <p:spPr>
          <a:xfrm>
            <a:off x="502920" y="914400"/>
            <a:ext cx="11155680" cy="1828800"/>
          </a:xfrm>
          <a:prstGeom prst="roundRect">
            <a:avLst/>
          </a:prstGeom>
          <a:solidFill>
            <a:srgbClr val="FFFFFF"/>
          </a:solidFill>
          <a:ln w="17780">
            <a:solidFill>
              <a:srgbClr val="7857B2"/>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600" b="0">
                <a:solidFill>
                  <a:srgbClr val="232A34"/>
                </a:solidFill>
                <a:latin typeface="Aptos"/>
              </a:defRPr>
            </a:pPr>
            <a:endParaRPr/>
          </a:p>
        </p:txBody>
      </p:sp>
      <p:sp>
        <p:nvSpPr>
          <p:cNvPr id="6" name="TextBox 5"/>
          <p:cNvSpPr txBox="1"/>
          <p:nvPr/>
        </p:nvSpPr>
        <p:spPr>
          <a:xfrm>
            <a:off x="777240" y="1143000"/>
            <a:ext cx="10607040" cy="1325880"/>
          </a:xfrm>
          <a:prstGeom prst="rect">
            <a:avLst/>
          </a:prstGeom>
          <a:noFill/>
        </p:spPr>
        <p:txBody>
          <a:bodyPr wrap="square">
            <a:spAutoFit/>
          </a:bodyPr>
          <a:lstStyle/>
          <a:p>
            <a:pPr algn="ctr">
              <a:defRPr sz="1800" b="1">
                <a:solidFill>
                  <a:srgbClr val="14223D"/>
                </a:solidFill>
                <a:latin typeface="Aptos"/>
              </a:defRPr>
            </a:pPr>
            <a:r>
              <a:t>A robot cannot directly observe whether a corridor is occupied. It receives noisy sensor readings and maintains probabilities over possible hidden states before selecting an action. The probability distribution used for decision-making is its □□□□.</a:t>
            </a:r>
          </a:p>
        </p:txBody>
      </p:sp>
      <p:sp>
        <p:nvSpPr>
          <p:cNvPr id="7" name="Rounded Rectangle 6"/>
          <p:cNvSpPr/>
          <p:nvPr/>
        </p:nvSpPr>
        <p:spPr>
          <a:xfrm>
            <a:off x="3886200" y="2907792"/>
            <a:ext cx="4389120" cy="658368"/>
          </a:xfrm>
          <a:prstGeom prst="roundRect">
            <a:avLst/>
          </a:prstGeom>
          <a:solidFill>
            <a:srgbClr val="F5F7FA"/>
          </a:solidFill>
          <a:ln w="17780">
            <a:solidFill>
              <a:srgbClr val="7857B2"/>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2400" b="1">
                <a:solidFill>
                  <a:srgbClr val="14223D"/>
                </a:solidFill>
                <a:latin typeface="Aptos"/>
              </a:defRPr>
            </a:pPr>
            <a:r>
              <a:t>□□□□</a:t>
            </a:r>
          </a:p>
        </p:txBody>
      </p:sp>
      <p:sp>
        <p:nvSpPr>
          <p:cNvPr id="8" name="TextBox 7"/>
          <p:cNvSpPr txBox="1"/>
          <p:nvPr/>
        </p:nvSpPr>
        <p:spPr>
          <a:xfrm>
            <a:off x="731520" y="3794760"/>
            <a:ext cx="10698480" cy="274320"/>
          </a:xfrm>
          <a:prstGeom prst="rect">
            <a:avLst/>
          </a:prstGeom>
          <a:noFill/>
        </p:spPr>
        <p:txBody>
          <a:bodyPr wrap="square">
            <a:spAutoFit/>
          </a:bodyPr>
          <a:lstStyle/>
          <a:p>
            <a:pPr algn="ctr">
              <a:defRPr sz="1200" b="0">
                <a:solidFill>
                  <a:srgbClr val="5C6878"/>
                </a:solidFill>
                <a:latin typeface="Aptos"/>
              </a:defRPr>
            </a:pPr>
            <a:r>
              <a:t>Select the option that correctly fills the missing concept.</a:t>
            </a:r>
          </a:p>
        </p:txBody>
      </p:sp>
      <p:sp>
        <p:nvSpPr>
          <p:cNvPr id="9" name="Rounded Rectangle 8"/>
          <p:cNvSpPr/>
          <p:nvPr/>
        </p:nvSpPr>
        <p:spPr>
          <a:xfrm>
            <a:off x="685800" y="4297680"/>
            <a:ext cx="5257800" cy="749808"/>
          </a:xfrm>
          <a:prstGeom prst="roundRect">
            <a:avLst/>
          </a:prstGeom>
          <a:solidFill>
            <a:srgbClr val="00B050"/>
          </a:solidFill>
          <a:ln w="17780">
            <a:solidFill>
              <a:srgbClr val="2672BE"/>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l">
              <a:defRPr sz="1350" b="1">
                <a:solidFill>
                  <a:srgbClr val="232A34"/>
                </a:solidFill>
                <a:latin typeface="Aptos"/>
              </a:defRPr>
            </a:pPr>
            <a:r>
              <a:rPr>
                <a:highlight>
                  <a:srgbClr val="00FF00"/>
                </a:highlight>
              </a:rPr>
              <a:t>A.  belief state</a:t>
            </a:r>
          </a:p>
        </p:txBody>
      </p:sp>
      <p:sp>
        <p:nvSpPr>
          <p:cNvPr id="10" name="Rounded Rectangle 9"/>
          <p:cNvSpPr/>
          <p:nvPr/>
        </p:nvSpPr>
        <p:spPr>
          <a:xfrm>
            <a:off x="6263640" y="4297680"/>
            <a:ext cx="5257800" cy="749808"/>
          </a:xfrm>
          <a:prstGeom prst="roundRect">
            <a:avLst/>
          </a:prstGeom>
          <a:solidFill>
            <a:srgbClr val="E2F4E9"/>
          </a:solidFill>
          <a:ln w="17780">
            <a:solidFill>
              <a:srgbClr val="37A069"/>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l">
              <a:defRPr sz="1350" b="1">
                <a:solidFill>
                  <a:srgbClr val="232A34"/>
                </a:solidFill>
                <a:latin typeface="Aptos"/>
              </a:defRPr>
            </a:pPr>
            <a:r>
              <a:t>B.  reward function</a:t>
            </a:r>
          </a:p>
        </p:txBody>
      </p:sp>
      <p:sp>
        <p:nvSpPr>
          <p:cNvPr id="11" name="Rounded Rectangle 10"/>
          <p:cNvSpPr/>
          <p:nvPr/>
        </p:nvSpPr>
        <p:spPr>
          <a:xfrm>
            <a:off x="685800" y="5349240"/>
            <a:ext cx="5257800" cy="749808"/>
          </a:xfrm>
          <a:prstGeom prst="roundRect">
            <a:avLst/>
          </a:prstGeom>
          <a:solidFill>
            <a:srgbClr val="FFF6D3"/>
          </a:solidFill>
          <a:ln w="17780">
            <a:solidFill>
              <a:srgbClr val="F2BE36"/>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l">
              <a:defRPr sz="1350" b="1">
                <a:solidFill>
                  <a:srgbClr val="232A34"/>
                </a:solidFill>
                <a:latin typeface="Aptos"/>
              </a:defRPr>
            </a:pPr>
            <a:r>
              <a:t>C.  action-value table</a:t>
            </a:r>
          </a:p>
        </p:txBody>
      </p:sp>
      <p:sp>
        <p:nvSpPr>
          <p:cNvPr id="12" name="Rounded Rectangle 11"/>
          <p:cNvSpPr/>
          <p:nvPr/>
        </p:nvSpPr>
        <p:spPr>
          <a:xfrm>
            <a:off x="6263640" y="5349240"/>
            <a:ext cx="5257800" cy="749808"/>
          </a:xfrm>
          <a:prstGeom prst="roundRect">
            <a:avLst/>
          </a:prstGeom>
          <a:solidFill>
            <a:srgbClr val="EDE6F9"/>
          </a:solidFill>
          <a:ln w="17780">
            <a:solidFill>
              <a:srgbClr val="7857B2"/>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l">
              <a:defRPr sz="1350" b="1">
                <a:solidFill>
                  <a:srgbClr val="232A34"/>
                </a:solidFill>
                <a:latin typeface="Aptos"/>
              </a:defRPr>
            </a:pPr>
            <a:r>
              <a:t>D.  termination condition</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40080"/>
          </a:xfrm>
          <a:prstGeom prst="rect">
            <a:avLst/>
          </a:prstGeom>
          <a:solidFill>
            <a:srgbClr val="1422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109728"/>
            <a:ext cx="9784080" cy="365760"/>
          </a:xfrm>
          <a:prstGeom prst="rect">
            <a:avLst/>
          </a:prstGeom>
          <a:noFill/>
        </p:spPr>
        <p:txBody>
          <a:bodyPr wrap="square">
            <a:spAutoFit/>
          </a:bodyPr>
          <a:lstStyle/>
          <a:p>
            <a:pPr algn="l">
              <a:defRPr sz="2300" b="1">
                <a:solidFill>
                  <a:srgbClr val="FFFFFF"/>
                </a:solidFill>
                <a:latin typeface="Aptos"/>
              </a:defRPr>
            </a:pPr>
            <a:r>
              <a:t>Q9 • Ethics — Reward Hacking</a:t>
            </a:r>
          </a:p>
        </p:txBody>
      </p:sp>
      <p:sp>
        <p:nvSpPr>
          <p:cNvPr id="4" name="TextBox 3"/>
          <p:cNvSpPr txBox="1"/>
          <p:nvPr/>
        </p:nvSpPr>
        <p:spPr>
          <a:xfrm>
            <a:off x="10332720" y="146304"/>
            <a:ext cx="1097280" cy="228600"/>
          </a:xfrm>
          <a:prstGeom prst="rect">
            <a:avLst/>
          </a:prstGeom>
          <a:noFill/>
        </p:spPr>
        <p:txBody>
          <a:bodyPr wrap="square">
            <a:spAutoFit/>
          </a:bodyPr>
          <a:lstStyle/>
          <a:p>
            <a:pPr algn="r">
              <a:defRPr sz="1000" b="1">
                <a:solidFill>
                  <a:srgbClr val="BECDE1"/>
                </a:solidFill>
                <a:latin typeface="Aptos"/>
              </a:defRPr>
            </a:pPr>
            <a:r>
              <a:t>10</a:t>
            </a:r>
          </a:p>
        </p:txBody>
      </p:sp>
      <p:sp>
        <p:nvSpPr>
          <p:cNvPr id="5" name="Rounded Rectangle 4"/>
          <p:cNvSpPr/>
          <p:nvPr/>
        </p:nvSpPr>
        <p:spPr>
          <a:xfrm>
            <a:off x="502920" y="914400"/>
            <a:ext cx="11155680" cy="1828800"/>
          </a:xfrm>
          <a:prstGeom prst="roundRect">
            <a:avLst/>
          </a:prstGeom>
          <a:solidFill>
            <a:srgbClr val="FFFFFF"/>
          </a:solidFill>
          <a:ln w="17780">
            <a:solidFill>
              <a:srgbClr val="F2BE36"/>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600" b="0">
                <a:solidFill>
                  <a:srgbClr val="232A34"/>
                </a:solidFill>
                <a:latin typeface="Aptos"/>
              </a:defRPr>
            </a:pPr>
            <a:endParaRPr/>
          </a:p>
        </p:txBody>
      </p:sp>
      <p:sp>
        <p:nvSpPr>
          <p:cNvPr id="6" name="TextBox 5"/>
          <p:cNvSpPr txBox="1"/>
          <p:nvPr/>
        </p:nvSpPr>
        <p:spPr>
          <a:xfrm>
            <a:off x="777240" y="1143000"/>
            <a:ext cx="10607040" cy="1325880"/>
          </a:xfrm>
          <a:prstGeom prst="rect">
            <a:avLst/>
          </a:prstGeom>
          <a:noFill/>
        </p:spPr>
        <p:txBody>
          <a:bodyPr wrap="square">
            <a:spAutoFit/>
          </a:bodyPr>
          <a:lstStyle/>
          <a:p>
            <a:pPr algn="ctr">
              <a:defRPr sz="1800" b="1">
                <a:solidFill>
                  <a:srgbClr val="14223D"/>
                </a:solidFill>
                <a:latin typeface="Aptos"/>
              </a:defRPr>
            </a:pPr>
            <a:r>
              <a:t>An RL system is rewarded for reducing delivery time. It discovers a behavior that minimizes the measured time but repeatedly violates an important safety constraint that was not included in the reward. This is a classic example of □□□□.</a:t>
            </a:r>
          </a:p>
        </p:txBody>
      </p:sp>
      <p:sp>
        <p:nvSpPr>
          <p:cNvPr id="7" name="Rounded Rectangle 6"/>
          <p:cNvSpPr/>
          <p:nvPr/>
        </p:nvSpPr>
        <p:spPr>
          <a:xfrm>
            <a:off x="3886200" y="2907792"/>
            <a:ext cx="4389120" cy="658368"/>
          </a:xfrm>
          <a:prstGeom prst="roundRect">
            <a:avLst/>
          </a:prstGeom>
          <a:solidFill>
            <a:srgbClr val="F5F7FA"/>
          </a:solidFill>
          <a:ln w="17780">
            <a:solidFill>
              <a:srgbClr val="F2BE36"/>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2400" b="1">
                <a:solidFill>
                  <a:srgbClr val="14223D"/>
                </a:solidFill>
                <a:latin typeface="Aptos"/>
              </a:defRPr>
            </a:pPr>
            <a:r>
              <a:t>□□□□</a:t>
            </a:r>
          </a:p>
        </p:txBody>
      </p:sp>
      <p:sp>
        <p:nvSpPr>
          <p:cNvPr id="8" name="TextBox 7"/>
          <p:cNvSpPr txBox="1"/>
          <p:nvPr/>
        </p:nvSpPr>
        <p:spPr>
          <a:xfrm>
            <a:off x="731520" y="3794760"/>
            <a:ext cx="10698480" cy="274320"/>
          </a:xfrm>
          <a:prstGeom prst="rect">
            <a:avLst/>
          </a:prstGeom>
          <a:noFill/>
        </p:spPr>
        <p:txBody>
          <a:bodyPr wrap="square">
            <a:spAutoFit/>
          </a:bodyPr>
          <a:lstStyle/>
          <a:p>
            <a:pPr algn="ctr">
              <a:defRPr sz="1200" b="0">
                <a:solidFill>
                  <a:srgbClr val="5C6878"/>
                </a:solidFill>
                <a:latin typeface="Aptos"/>
              </a:defRPr>
            </a:pPr>
            <a:r>
              <a:t>Select the option that correctly fills the missing concept.</a:t>
            </a:r>
          </a:p>
        </p:txBody>
      </p:sp>
      <p:sp>
        <p:nvSpPr>
          <p:cNvPr id="9" name="Rounded Rectangle 8"/>
          <p:cNvSpPr/>
          <p:nvPr/>
        </p:nvSpPr>
        <p:spPr>
          <a:xfrm>
            <a:off x="685800" y="4297680"/>
            <a:ext cx="5257800" cy="749808"/>
          </a:xfrm>
          <a:prstGeom prst="roundRect">
            <a:avLst/>
          </a:prstGeom>
          <a:solidFill>
            <a:srgbClr val="E0EEFB"/>
          </a:solidFill>
          <a:ln w="17780">
            <a:solidFill>
              <a:srgbClr val="2672BE"/>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l">
              <a:defRPr sz="1350" b="1">
                <a:solidFill>
                  <a:srgbClr val="232A34"/>
                </a:solidFill>
                <a:latin typeface="Aptos"/>
              </a:defRPr>
            </a:pPr>
            <a:r>
              <a:t>A.  reward hacking</a:t>
            </a:r>
          </a:p>
        </p:txBody>
      </p:sp>
      <p:sp>
        <p:nvSpPr>
          <p:cNvPr id="10" name="Rounded Rectangle 9"/>
          <p:cNvSpPr/>
          <p:nvPr/>
        </p:nvSpPr>
        <p:spPr>
          <a:xfrm>
            <a:off x="6263640" y="4297680"/>
            <a:ext cx="5257800" cy="749808"/>
          </a:xfrm>
          <a:prstGeom prst="roundRect">
            <a:avLst/>
          </a:prstGeom>
          <a:solidFill>
            <a:srgbClr val="FF0000"/>
          </a:solidFill>
          <a:ln w="17780">
            <a:solidFill>
              <a:srgbClr val="37A069"/>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l">
              <a:defRPr sz="1350" b="1">
                <a:solidFill>
                  <a:srgbClr val="232A34"/>
                </a:solidFill>
                <a:latin typeface="Aptos"/>
              </a:defRPr>
            </a:pPr>
            <a:r>
              <a:rPr>
                <a:highlight>
                  <a:srgbClr val="00FF00"/>
                </a:highlight>
              </a:rPr>
              <a:t>B.  temporal abstraction</a:t>
            </a:r>
          </a:p>
        </p:txBody>
      </p:sp>
      <p:sp>
        <p:nvSpPr>
          <p:cNvPr id="11" name="Rounded Rectangle 10"/>
          <p:cNvSpPr/>
          <p:nvPr/>
        </p:nvSpPr>
        <p:spPr>
          <a:xfrm>
            <a:off x="685800" y="5349240"/>
            <a:ext cx="5257800" cy="749808"/>
          </a:xfrm>
          <a:prstGeom prst="roundRect">
            <a:avLst/>
          </a:prstGeom>
          <a:solidFill>
            <a:srgbClr val="FFF6D3"/>
          </a:solidFill>
          <a:ln w="17780">
            <a:solidFill>
              <a:srgbClr val="F2BE36"/>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l">
              <a:defRPr sz="1350" b="1">
                <a:solidFill>
                  <a:srgbClr val="232A34"/>
                </a:solidFill>
                <a:latin typeface="Aptos"/>
              </a:defRPr>
            </a:pPr>
            <a:r>
              <a:t>C.  centralized training</a:t>
            </a:r>
          </a:p>
        </p:txBody>
      </p:sp>
      <p:sp>
        <p:nvSpPr>
          <p:cNvPr id="12" name="Rounded Rectangle 11"/>
          <p:cNvSpPr/>
          <p:nvPr/>
        </p:nvSpPr>
        <p:spPr>
          <a:xfrm>
            <a:off x="6263640" y="5349240"/>
            <a:ext cx="5257800" cy="749808"/>
          </a:xfrm>
          <a:prstGeom prst="roundRect">
            <a:avLst/>
          </a:prstGeom>
          <a:solidFill>
            <a:srgbClr val="EDE6F9"/>
          </a:solidFill>
          <a:ln w="17780">
            <a:solidFill>
              <a:srgbClr val="7857B2"/>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l">
              <a:defRPr sz="1350" b="1">
                <a:solidFill>
                  <a:srgbClr val="232A34"/>
                </a:solidFill>
                <a:latin typeface="Aptos"/>
              </a:defRPr>
            </a:pPr>
            <a:r>
              <a:rPr dirty="0"/>
              <a:t>D.  partial observability</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40080"/>
          </a:xfrm>
          <a:prstGeom prst="rect">
            <a:avLst/>
          </a:prstGeom>
          <a:solidFill>
            <a:srgbClr val="1422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109728"/>
            <a:ext cx="9784080" cy="365760"/>
          </a:xfrm>
          <a:prstGeom prst="rect">
            <a:avLst/>
          </a:prstGeom>
          <a:noFill/>
        </p:spPr>
        <p:txBody>
          <a:bodyPr wrap="square">
            <a:spAutoFit/>
          </a:bodyPr>
          <a:lstStyle/>
          <a:p>
            <a:pPr algn="l">
              <a:defRPr sz="2300" b="1">
                <a:solidFill>
                  <a:srgbClr val="FFFFFF"/>
                </a:solidFill>
                <a:latin typeface="Aptos"/>
              </a:defRPr>
            </a:pPr>
            <a:r>
              <a:t>Q10 • Integrated Real-World RL</a:t>
            </a:r>
          </a:p>
        </p:txBody>
      </p:sp>
      <p:sp>
        <p:nvSpPr>
          <p:cNvPr id="4" name="TextBox 3"/>
          <p:cNvSpPr txBox="1"/>
          <p:nvPr/>
        </p:nvSpPr>
        <p:spPr>
          <a:xfrm>
            <a:off x="10332720" y="146304"/>
            <a:ext cx="1097280" cy="228600"/>
          </a:xfrm>
          <a:prstGeom prst="rect">
            <a:avLst/>
          </a:prstGeom>
          <a:noFill/>
        </p:spPr>
        <p:txBody>
          <a:bodyPr wrap="square">
            <a:spAutoFit/>
          </a:bodyPr>
          <a:lstStyle/>
          <a:p>
            <a:pPr algn="r">
              <a:defRPr sz="1000" b="1">
                <a:solidFill>
                  <a:srgbClr val="BECDE1"/>
                </a:solidFill>
                <a:latin typeface="Aptos"/>
              </a:defRPr>
            </a:pPr>
            <a:r>
              <a:t>11</a:t>
            </a:r>
          </a:p>
        </p:txBody>
      </p:sp>
      <p:sp>
        <p:nvSpPr>
          <p:cNvPr id="5" name="Rounded Rectangle 4"/>
          <p:cNvSpPr/>
          <p:nvPr/>
        </p:nvSpPr>
        <p:spPr>
          <a:xfrm>
            <a:off x="502920" y="914400"/>
            <a:ext cx="11155680" cy="1828800"/>
          </a:xfrm>
          <a:prstGeom prst="roundRect">
            <a:avLst/>
          </a:prstGeom>
          <a:solidFill>
            <a:srgbClr val="FFFFFF"/>
          </a:solidFill>
          <a:ln w="17780">
            <a:solidFill>
              <a:srgbClr val="2672BE"/>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600" b="0">
                <a:solidFill>
                  <a:srgbClr val="232A34"/>
                </a:solidFill>
                <a:latin typeface="Aptos"/>
              </a:defRPr>
            </a:pPr>
            <a:endParaRPr/>
          </a:p>
        </p:txBody>
      </p:sp>
      <p:sp>
        <p:nvSpPr>
          <p:cNvPr id="6" name="TextBox 5"/>
          <p:cNvSpPr txBox="1"/>
          <p:nvPr/>
        </p:nvSpPr>
        <p:spPr>
          <a:xfrm>
            <a:off x="777240" y="1143000"/>
            <a:ext cx="10607040" cy="1325880"/>
          </a:xfrm>
          <a:prstGeom prst="rect">
            <a:avLst/>
          </a:prstGeom>
          <a:noFill/>
        </p:spPr>
        <p:txBody>
          <a:bodyPr wrap="square">
            <a:spAutoFit/>
          </a:bodyPr>
          <a:lstStyle/>
          <a:p>
            <a:pPr algn="ctr">
              <a:defRPr sz="1800" b="1">
                <a:solidFill>
                  <a:srgbClr val="14223D"/>
                </a:solidFill>
                <a:latin typeface="Aptos"/>
              </a:defRPr>
            </a:pPr>
            <a:r>
              <a:t>A smart traffic controller is first trained in simulation, evaluated statistically, checked against safety constraints, and only then considered for deployment. This workflow emphasizes □□□□ before real-world operation.</a:t>
            </a:r>
          </a:p>
        </p:txBody>
      </p:sp>
      <p:sp>
        <p:nvSpPr>
          <p:cNvPr id="7" name="Rounded Rectangle 6"/>
          <p:cNvSpPr/>
          <p:nvPr/>
        </p:nvSpPr>
        <p:spPr>
          <a:xfrm>
            <a:off x="3886200" y="2907792"/>
            <a:ext cx="4389120" cy="658368"/>
          </a:xfrm>
          <a:prstGeom prst="roundRect">
            <a:avLst/>
          </a:prstGeom>
          <a:solidFill>
            <a:srgbClr val="F5F7FA"/>
          </a:solidFill>
          <a:ln w="17780">
            <a:solidFill>
              <a:srgbClr val="2672BE"/>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2400" b="1">
                <a:solidFill>
                  <a:srgbClr val="14223D"/>
                </a:solidFill>
                <a:latin typeface="Aptos"/>
              </a:defRPr>
            </a:pPr>
            <a:r>
              <a:t>□□□□</a:t>
            </a:r>
          </a:p>
        </p:txBody>
      </p:sp>
      <p:sp>
        <p:nvSpPr>
          <p:cNvPr id="8" name="TextBox 7"/>
          <p:cNvSpPr txBox="1"/>
          <p:nvPr/>
        </p:nvSpPr>
        <p:spPr>
          <a:xfrm>
            <a:off x="731520" y="3794760"/>
            <a:ext cx="10698480" cy="274320"/>
          </a:xfrm>
          <a:prstGeom prst="rect">
            <a:avLst/>
          </a:prstGeom>
          <a:noFill/>
        </p:spPr>
        <p:txBody>
          <a:bodyPr wrap="square">
            <a:spAutoFit/>
          </a:bodyPr>
          <a:lstStyle/>
          <a:p>
            <a:pPr algn="ctr">
              <a:defRPr sz="1200" b="0">
                <a:solidFill>
                  <a:srgbClr val="5C6878"/>
                </a:solidFill>
                <a:latin typeface="Aptos"/>
              </a:defRPr>
            </a:pPr>
            <a:r>
              <a:t>Select the option that correctly fills the missing concept.</a:t>
            </a:r>
          </a:p>
        </p:txBody>
      </p:sp>
      <p:sp>
        <p:nvSpPr>
          <p:cNvPr id="9" name="Rounded Rectangle 8"/>
          <p:cNvSpPr/>
          <p:nvPr/>
        </p:nvSpPr>
        <p:spPr>
          <a:xfrm>
            <a:off x="685800" y="4297680"/>
            <a:ext cx="5257800" cy="749808"/>
          </a:xfrm>
          <a:prstGeom prst="roundRect">
            <a:avLst/>
          </a:prstGeom>
          <a:solidFill>
            <a:srgbClr val="00B050"/>
          </a:solidFill>
          <a:ln w="17780">
            <a:solidFill>
              <a:srgbClr val="2672BE"/>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l">
              <a:defRPr sz="1350" b="1">
                <a:solidFill>
                  <a:srgbClr val="232A34"/>
                </a:solidFill>
                <a:latin typeface="Aptos"/>
              </a:defRPr>
            </a:pPr>
            <a:r>
              <a:rPr>
                <a:highlight>
                  <a:srgbClr val="00FF00"/>
                </a:highlight>
              </a:rPr>
              <a:t>A.  validation and safety evaluation</a:t>
            </a:r>
          </a:p>
        </p:txBody>
      </p:sp>
      <p:sp>
        <p:nvSpPr>
          <p:cNvPr id="10" name="Rounded Rectangle 9"/>
          <p:cNvSpPr/>
          <p:nvPr/>
        </p:nvSpPr>
        <p:spPr>
          <a:xfrm>
            <a:off x="6263640" y="4297680"/>
            <a:ext cx="5257800" cy="749808"/>
          </a:xfrm>
          <a:prstGeom prst="roundRect">
            <a:avLst/>
          </a:prstGeom>
          <a:solidFill>
            <a:srgbClr val="E2F4E9"/>
          </a:solidFill>
          <a:ln w="17780">
            <a:solidFill>
              <a:srgbClr val="37A069"/>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l">
              <a:defRPr sz="1350" b="1">
                <a:solidFill>
                  <a:srgbClr val="232A34"/>
                </a:solidFill>
                <a:latin typeface="Aptos"/>
              </a:defRPr>
            </a:pPr>
            <a:r>
              <a:t>B.  unrestricted exploration</a:t>
            </a:r>
          </a:p>
        </p:txBody>
      </p:sp>
      <p:sp>
        <p:nvSpPr>
          <p:cNvPr id="11" name="Rounded Rectangle 10"/>
          <p:cNvSpPr/>
          <p:nvPr/>
        </p:nvSpPr>
        <p:spPr>
          <a:xfrm>
            <a:off x="685800" y="5349240"/>
            <a:ext cx="5257800" cy="749808"/>
          </a:xfrm>
          <a:prstGeom prst="roundRect">
            <a:avLst/>
          </a:prstGeom>
          <a:solidFill>
            <a:srgbClr val="FFF6D3"/>
          </a:solidFill>
          <a:ln w="17780">
            <a:solidFill>
              <a:srgbClr val="F2BE36"/>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l">
              <a:defRPr sz="1350" b="1">
                <a:solidFill>
                  <a:srgbClr val="232A34"/>
                </a:solidFill>
                <a:latin typeface="Aptos"/>
              </a:defRPr>
            </a:pPr>
            <a:r>
              <a:t>C.  reward removal</a:t>
            </a:r>
          </a:p>
        </p:txBody>
      </p:sp>
      <p:sp>
        <p:nvSpPr>
          <p:cNvPr id="12" name="Rounded Rectangle 11"/>
          <p:cNvSpPr/>
          <p:nvPr/>
        </p:nvSpPr>
        <p:spPr>
          <a:xfrm>
            <a:off x="6263640" y="5349240"/>
            <a:ext cx="5257800" cy="749808"/>
          </a:xfrm>
          <a:prstGeom prst="roundRect">
            <a:avLst/>
          </a:prstGeom>
          <a:solidFill>
            <a:srgbClr val="EDE6F9"/>
          </a:solidFill>
          <a:ln w="17780">
            <a:solidFill>
              <a:srgbClr val="7857B2"/>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l">
              <a:defRPr sz="1350" b="1">
                <a:solidFill>
                  <a:srgbClr val="232A34"/>
                </a:solidFill>
                <a:latin typeface="Aptos"/>
              </a:defRPr>
            </a:pPr>
            <a:r>
              <a:t>D.  single-agent randomization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18</TotalTime>
  <Words>809</Words>
  <Application>Microsoft Office PowerPoint</Application>
  <PresentationFormat>Widescreen</PresentationFormat>
  <Paragraphs>98</Paragraphs>
  <Slides>11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Aptos</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vincent gnanaraj</dc:creator>
  <cp:keywords/>
  <dc:description>generated using python-pptx</dc:description>
  <cp:lastModifiedBy>rohitmanikantarellu@gmail.com</cp:lastModifiedBy>
  <cp:revision>2</cp:revision>
  <dcterms:created xsi:type="dcterms:W3CDTF">2013-01-27T09:14:16Z</dcterms:created>
  <dcterms:modified xsi:type="dcterms:W3CDTF">2026-08-23T10:30:12Z</dcterms:modified>
  <cp:category/>
</cp:coreProperties>
</file>